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31"/>
  </p:notesMasterIdLst>
  <p:sldIdLst>
    <p:sldId id="256" r:id="rId2"/>
    <p:sldId id="489" r:id="rId3"/>
    <p:sldId id="706" r:id="rId4"/>
    <p:sldId id="472" r:id="rId5"/>
    <p:sldId id="685" r:id="rId6"/>
    <p:sldId id="686" r:id="rId7"/>
    <p:sldId id="694" r:id="rId8"/>
    <p:sldId id="678" r:id="rId9"/>
    <p:sldId id="695" r:id="rId10"/>
    <p:sldId id="697" r:id="rId11"/>
    <p:sldId id="696" r:id="rId12"/>
    <p:sldId id="698" r:id="rId13"/>
    <p:sldId id="699" r:id="rId14"/>
    <p:sldId id="700" r:id="rId15"/>
    <p:sldId id="701" r:id="rId16"/>
    <p:sldId id="703" r:id="rId17"/>
    <p:sldId id="693" r:id="rId18"/>
    <p:sldId id="691" r:id="rId19"/>
    <p:sldId id="687" r:id="rId20"/>
    <p:sldId id="688" r:id="rId21"/>
    <p:sldId id="704" r:id="rId22"/>
    <p:sldId id="705" r:id="rId23"/>
    <p:sldId id="689" r:id="rId24"/>
    <p:sldId id="690" r:id="rId25"/>
    <p:sldId id="471" r:id="rId26"/>
    <p:sldId id="680" r:id="rId27"/>
    <p:sldId id="681" r:id="rId28"/>
    <p:sldId id="682" r:id="rId29"/>
    <p:sldId id="683" r:id="rId30"/>
  </p:sldIdLst>
  <p:sldSz cx="9144000" cy="5143500" type="screen16x9"/>
  <p:notesSz cx="6858000" cy="9144000"/>
  <p:embeddedFontLst>
    <p:embeddedFont>
      <p:font typeface="Baloo 2 ExtraBold" panose="020B0604020202020204" charset="0"/>
      <p:regular r:id="rId32"/>
      <p:bold r:id="rId33"/>
    </p:embeddedFont>
    <p:embeddedFont>
      <p:font typeface="DM Sans" pitchFamily="2" charset="0"/>
      <p:regular r:id="rId34"/>
      <p:bold r:id="rId35"/>
      <p:italic r:id="rId36"/>
      <p:boldItalic r:id="rId37"/>
    </p:embeddedFont>
    <p:embeddedFont>
      <p:font typeface="DM Sans 14pt" panose="020B0604020202020204" charset="0"/>
      <p:regular r:id="rId38"/>
      <p:bold r:id="rId39"/>
      <p:italic r:id="rId40"/>
      <p:boldItalic r:id="rId41"/>
    </p:embeddedFont>
    <p:embeddedFont>
      <p:font typeface="Nunito Light" pitchFamily="2" charset="0"/>
      <p:regular r:id="rId42"/>
      <p: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1153D3E-4622-4138-849B-314D228F60DD}">
  <a:tblStyle styleId="{11153D3E-4622-4138-849B-314D228F60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E2F523C-9B10-4EE0-A70F-3C609E0DC27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24" autoAdjust="0"/>
    <p:restoredTop sz="92786"/>
  </p:normalViewPr>
  <p:slideViewPr>
    <p:cSldViewPr snapToGrid="0">
      <p:cViewPr varScale="1">
        <p:scale>
          <a:sx n="100" d="100"/>
          <a:sy n="100" d="100"/>
        </p:scale>
        <p:origin x="124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rub\Downloads\Supabase%20Snippet%208.data%20consistency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L"/>
              <a:t>Revenue</a:t>
            </a:r>
            <a:r>
              <a:rPr lang="es-CL" baseline="0"/>
              <a:t> by subscription type</a:t>
            </a:r>
            <a:endParaRPr lang="es-CL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'Supabase Snippet 2  City Counci'!$F$1</c:f>
              <c:strCache>
                <c:ptCount val="1"/>
                <c:pt idx="0">
                  <c:v>Pay as-you-go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'Supabase Snippet 2  City Counci'!$E$2:$E$7</c:f>
              <c:numCache>
                <c:formatCode>mmm\-yy</c:formatCode>
                <c:ptCount val="6"/>
                <c:pt idx="0">
                  <c:v>45292</c:v>
                </c:pt>
                <c:pt idx="1">
                  <c:v>45323</c:v>
                </c:pt>
                <c:pt idx="2">
                  <c:v>45352</c:v>
                </c:pt>
                <c:pt idx="3">
                  <c:v>45383</c:v>
                </c:pt>
                <c:pt idx="4">
                  <c:v>45413</c:v>
                </c:pt>
                <c:pt idx="5">
                  <c:v>45444</c:v>
                </c:pt>
              </c:numCache>
            </c:numRef>
          </c:cat>
          <c:val>
            <c:numRef>
              <c:f>'Supabase Snippet 2  City Counci'!$F$2:$F$7</c:f>
              <c:numCache>
                <c:formatCode>_ [$€-2]\ * #,##0_ ;_ [$€-2]\ * \-#,##0_ ;_ [$€-2]\ * "-"??_ ;_ @_ </c:formatCode>
                <c:ptCount val="6"/>
                <c:pt idx="0">
                  <c:v>227</c:v>
                </c:pt>
                <c:pt idx="1">
                  <c:v>143</c:v>
                </c:pt>
                <c:pt idx="2">
                  <c:v>157</c:v>
                </c:pt>
                <c:pt idx="3">
                  <c:v>94</c:v>
                </c:pt>
                <c:pt idx="4">
                  <c:v>422</c:v>
                </c:pt>
                <c:pt idx="5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A19-416D-88ED-F6BFB687448B}"/>
            </c:ext>
          </c:extLst>
        </c:ser>
        <c:ser>
          <c:idx val="1"/>
          <c:order val="1"/>
          <c:tx>
            <c:strRef>
              <c:f>'Supabase Snippet 2  City Counci'!$G$1</c:f>
              <c:strCache>
                <c:ptCount val="1"/>
                <c:pt idx="0">
                  <c:v>Monthly</c:v>
                </c:pt>
              </c:strCache>
            </c:strRef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cat>
            <c:numRef>
              <c:f>'Supabase Snippet 2  City Counci'!$E$2:$E$7</c:f>
              <c:numCache>
                <c:formatCode>mmm\-yy</c:formatCode>
                <c:ptCount val="6"/>
                <c:pt idx="0">
                  <c:v>45292</c:v>
                </c:pt>
                <c:pt idx="1">
                  <c:v>45323</c:v>
                </c:pt>
                <c:pt idx="2">
                  <c:v>45352</c:v>
                </c:pt>
                <c:pt idx="3">
                  <c:v>45383</c:v>
                </c:pt>
                <c:pt idx="4">
                  <c:v>45413</c:v>
                </c:pt>
                <c:pt idx="5">
                  <c:v>45444</c:v>
                </c:pt>
              </c:numCache>
            </c:numRef>
          </c:cat>
          <c:val>
            <c:numRef>
              <c:f>'Supabase Snippet 2  City Counci'!$G$2:$G$7</c:f>
              <c:numCache>
                <c:formatCode>_ [$€-2]\ * #,##0_ ;_ [$€-2]\ * \-#,##0_ ;_ [$€-2]\ * "-"??_ ;_ @_ </c:formatCode>
                <c:ptCount val="6"/>
                <c:pt idx="0">
                  <c:v>1999</c:v>
                </c:pt>
                <c:pt idx="1">
                  <c:v>3998</c:v>
                </c:pt>
                <c:pt idx="2">
                  <c:v>7996</c:v>
                </c:pt>
                <c:pt idx="3">
                  <c:v>5997</c:v>
                </c:pt>
                <c:pt idx="4">
                  <c:v>1999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A19-416D-88ED-F6BFB687448B}"/>
            </c:ext>
          </c:extLst>
        </c:ser>
        <c:ser>
          <c:idx val="2"/>
          <c:order val="2"/>
          <c:tx>
            <c:strRef>
              <c:f>'Supabase Snippet 2  City Counci'!$H$1</c:f>
              <c:strCache>
                <c:ptCount val="1"/>
                <c:pt idx="0">
                  <c:v>Quarterly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numRef>
              <c:f>'Supabase Snippet 2  City Counci'!$E$2:$E$7</c:f>
              <c:numCache>
                <c:formatCode>mmm\-yy</c:formatCode>
                <c:ptCount val="6"/>
                <c:pt idx="0">
                  <c:v>45292</c:v>
                </c:pt>
                <c:pt idx="1">
                  <c:v>45323</c:v>
                </c:pt>
                <c:pt idx="2">
                  <c:v>45352</c:v>
                </c:pt>
                <c:pt idx="3">
                  <c:v>45383</c:v>
                </c:pt>
                <c:pt idx="4">
                  <c:v>45413</c:v>
                </c:pt>
                <c:pt idx="5">
                  <c:v>45444</c:v>
                </c:pt>
              </c:numCache>
            </c:numRef>
          </c:cat>
          <c:val>
            <c:numRef>
              <c:f>'Supabase Snippet 2  City Counci'!$H$2:$H$7</c:f>
              <c:numCache>
                <c:formatCode>_ [$€-2]\ * #,##0_ ;_ [$€-2]\ * \-#,##0_ ;_ [$€-2]\ * "-"??_ ;_ @_ </c:formatCode>
                <c:ptCount val="6"/>
                <c:pt idx="0">
                  <c:v>14997</c:v>
                </c:pt>
                <c:pt idx="1">
                  <c:v>19996</c:v>
                </c:pt>
                <c:pt idx="2">
                  <c:v>4999</c:v>
                </c:pt>
                <c:pt idx="3">
                  <c:v>4999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A19-416D-88ED-F6BFB687448B}"/>
            </c:ext>
          </c:extLst>
        </c:ser>
        <c:ser>
          <c:idx val="3"/>
          <c:order val="3"/>
          <c:tx>
            <c:strRef>
              <c:f>'Supabase Snippet 2  City Counci'!$I$1</c:f>
              <c:strCache>
                <c:ptCount val="1"/>
                <c:pt idx="0">
                  <c:v>Yearly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cat>
            <c:numRef>
              <c:f>'Supabase Snippet 2  City Counci'!$E$2:$E$7</c:f>
              <c:numCache>
                <c:formatCode>mmm\-yy</c:formatCode>
                <c:ptCount val="6"/>
                <c:pt idx="0">
                  <c:v>45292</c:v>
                </c:pt>
                <c:pt idx="1">
                  <c:v>45323</c:v>
                </c:pt>
                <c:pt idx="2">
                  <c:v>45352</c:v>
                </c:pt>
                <c:pt idx="3">
                  <c:v>45383</c:v>
                </c:pt>
                <c:pt idx="4">
                  <c:v>45413</c:v>
                </c:pt>
                <c:pt idx="5">
                  <c:v>45444</c:v>
                </c:pt>
              </c:numCache>
            </c:numRef>
          </c:cat>
          <c:val>
            <c:numRef>
              <c:f>'Supabase Snippet 2  City Counci'!$I$2:$I$7</c:f>
              <c:numCache>
                <c:formatCode>_ [$€-2]\ * #,##0_ ;_ [$€-2]\ * \-#,##0_ ;_ [$€-2]\ * "-"??_ ;_ @_ </c:formatCode>
                <c:ptCount val="6"/>
                <c:pt idx="0">
                  <c:v>59996</c:v>
                </c:pt>
                <c:pt idx="1">
                  <c:v>14999</c:v>
                </c:pt>
                <c:pt idx="2">
                  <c:v>29998</c:v>
                </c:pt>
                <c:pt idx="3">
                  <c:v>44997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A19-416D-88ED-F6BFB68744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1546832"/>
        <c:axId val="441540112"/>
      </c:lineChart>
      <c:dateAx>
        <c:axId val="441546832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441540112"/>
        <c:crosses val="autoZero"/>
        <c:auto val="1"/>
        <c:lblOffset val="100"/>
        <c:baseTimeUnit val="months"/>
      </c:dateAx>
      <c:valAx>
        <c:axId val="441540112"/>
        <c:scaling>
          <c:orientation val="minMax"/>
          <c:max val="6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 [$€-2]\ * #,##0_ ;_ [$€-2]\ * \-#,##0_ ;_ [$€-2]\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441546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>
          <a:extLst>
            <a:ext uri="{FF2B5EF4-FFF2-40B4-BE49-F238E27FC236}">
              <a16:creationId xmlns:a16="http://schemas.microsoft.com/office/drawing/2014/main" id="{05C7DC5F-3EE1-2AB8-D635-75751FFC6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d431007ba2_0_208:notes">
            <a:extLst>
              <a:ext uri="{FF2B5EF4-FFF2-40B4-BE49-F238E27FC236}">
                <a16:creationId xmlns:a16="http://schemas.microsoft.com/office/drawing/2014/main" id="{AF52FA10-70D0-DED9-786C-8B153DD085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d431007ba2_0_208:notes">
            <a:extLst>
              <a:ext uri="{FF2B5EF4-FFF2-40B4-BE49-F238E27FC236}">
                <a16:creationId xmlns:a16="http://schemas.microsoft.com/office/drawing/2014/main" id="{03902D5B-9398-6B47-A016-0068B3621A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0599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>
          <a:extLst>
            <a:ext uri="{FF2B5EF4-FFF2-40B4-BE49-F238E27FC236}">
              <a16:creationId xmlns:a16="http://schemas.microsoft.com/office/drawing/2014/main" id="{0FCA8C29-DFC2-1B42-D8E0-475A10D1B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d431007ba2_0_208:notes">
            <a:extLst>
              <a:ext uri="{FF2B5EF4-FFF2-40B4-BE49-F238E27FC236}">
                <a16:creationId xmlns:a16="http://schemas.microsoft.com/office/drawing/2014/main" id="{6557F0A2-32A8-C6D0-B3B7-FBE1F2097A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d431007ba2_0_208:notes">
            <a:extLst>
              <a:ext uri="{FF2B5EF4-FFF2-40B4-BE49-F238E27FC236}">
                <a16:creationId xmlns:a16="http://schemas.microsoft.com/office/drawing/2014/main" id="{4CA92628-D6FB-5291-ED92-387154394E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6112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>
          <a:extLst>
            <a:ext uri="{FF2B5EF4-FFF2-40B4-BE49-F238E27FC236}">
              <a16:creationId xmlns:a16="http://schemas.microsoft.com/office/drawing/2014/main" id="{46E9ADCA-7B7D-0336-8195-157FD340D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54dda1946d_4_2726:notes">
            <a:extLst>
              <a:ext uri="{FF2B5EF4-FFF2-40B4-BE49-F238E27FC236}">
                <a16:creationId xmlns:a16="http://schemas.microsoft.com/office/drawing/2014/main" id="{B422C8AA-5709-DD96-BC38-9D95F466EF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54dda1946d_4_2726:notes">
            <a:extLst>
              <a:ext uri="{FF2B5EF4-FFF2-40B4-BE49-F238E27FC236}">
                <a16:creationId xmlns:a16="http://schemas.microsoft.com/office/drawing/2014/main" id="{76CE699C-378E-96FE-87BF-AA676257D9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7536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9">
          <a:extLst>
            <a:ext uri="{FF2B5EF4-FFF2-40B4-BE49-F238E27FC236}">
              <a16:creationId xmlns:a16="http://schemas.microsoft.com/office/drawing/2014/main" id="{595126CE-2C92-7982-F2E2-6234F0CE9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1e71a4a866a_0_20:notes">
            <a:extLst>
              <a:ext uri="{FF2B5EF4-FFF2-40B4-BE49-F238E27FC236}">
                <a16:creationId xmlns:a16="http://schemas.microsoft.com/office/drawing/2014/main" id="{6FDCC180-A30E-8CE9-0A65-7F6E4BD30A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1e71a4a866a_0_20:notes">
            <a:extLst>
              <a:ext uri="{FF2B5EF4-FFF2-40B4-BE49-F238E27FC236}">
                <a16:creationId xmlns:a16="http://schemas.microsoft.com/office/drawing/2014/main" id="{56E66FBA-B9CD-AD84-C7D2-897BA8CD97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7041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9">
          <a:extLst>
            <a:ext uri="{FF2B5EF4-FFF2-40B4-BE49-F238E27FC236}">
              <a16:creationId xmlns:a16="http://schemas.microsoft.com/office/drawing/2014/main" id="{FB7E6B4D-98F4-4780-AD35-E245D1BE9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1e71a4a866a_0_20:notes">
            <a:extLst>
              <a:ext uri="{FF2B5EF4-FFF2-40B4-BE49-F238E27FC236}">
                <a16:creationId xmlns:a16="http://schemas.microsoft.com/office/drawing/2014/main" id="{F1BBD820-366D-1327-37D6-33A1FA0DF4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1e71a4a866a_0_20:notes">
            <a:extLst>
              <a:ext uri="{FF2B5EF4-FFF2-40B4-BE49-F238E27FC236}">
                <a16:creationId xmlns:a16="http://schemas.microsoft.com/office/drawing/2014/main" id="{EAEE576C-5BE9-81D2-2C01-C2B99D44B7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5303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4EDE536D-1757-4368-28C1-D200B9854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69C66C5F-6B6F-A379-9324-CE0B4AB3AF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0F2ED381-5821-EAAE-9981-46A8166E0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71478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>
          <a:extLst>
            <a:ext uri="{FF2B5EF4-FFF2-40B4-BE49-F238E27FC236}">
              <a16:creationId xmlns:a16="http://schemas.microsoft.com/office/drawing/2014/main" id="{198DE3A4-2B9F-CC06-B226-8A31742B3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54dda1946d_6_308:notes">
            <a:extLst>
              <a:ext uri="{FF2B5EF4-FFF2-40B4-BE49-F238E27FC236}">
                <a16:creationId xmlns:a16="http://schemas.microsoft.com/office/drawing/2014/main" id="{EBA59D65-19DD-A9B4-1961-EA019746BF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54dda1946d_6_308:notes">
            <a:extLst>
              <a:ext uri="{FF2B5EF4-FFF2-40B4-BE49-F238E27FC236}">
                <a16:creationId xmlns:a16="http://schemas.microsoft.com/office/drawing/2014/main" id="{E82DB4E5-9420-D016-5A3F-229B59986B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3526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036F2F74-9E7E-7060-CDB5-980B98859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320C457E-E1C0-B485-28D5-AC0FA22875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FD54DA77-93A2-1E18-D189-6C6C46D5E2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4174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971DB6FE-4657-FC5B-EE1B-40FC9F199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336E0B2B-18DF-852E-2EF8-573C2D77CC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4157552A-3532-CF0B-A24B-2F9E1BCEDA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60121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429DFB3F-21CD-243C-3128-A1F209F90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F9E5D83E-5959-48BD-377F-6AD380E5FE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85B466DD-48E3-130D-5372-BFAC8FD453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63672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C70583FF-B503-E558-4883-C3744C5DA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1D786D39-9393-7913-313A-792695D07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CE6044E2-44DE-3B88-0EF4-300A535C4B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58576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5F5EB49B-414C-8E1D-9A4D-0A094660C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A7ACA001-A3B3-0907-5B31-E9D136BF5C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A58C33E4-3FF9-0AAC-C7E7-DD7770C6E1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67481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1B8EBC98-464D-D587-1881-7B4292E95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6D8398BB-E47B-848C-E6E7-EF590ADC04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71258475-087B-A4DF-7614-1F56F309A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7238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5CCA64A3-037B-36BD-504F-10A9FAE3A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E64A1D1A-D5D5-0352-C36A-8850AB64C1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CD7B78B8-431E-757A-E74E-3B58D349FB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48487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8596855C-2CC3-3333-08B4-73C37D22D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883E35BE-B33E-D631-DC2D-D95B6DBD9C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C8F76011-6145-93D8-7052-DF68551C56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61660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410B6573-4262-2547-B8E4-D44D347CF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78F66CBB-CE3F-80DF-DEC2-CF8CFF02DF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B304624B-3E02-DB81-1FAA-CDB182E4C6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08623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>
          <a:extLst>
            <a:ext uri="{FF2B5EF4-FFF2-40B4-BE49-F238E27FC236}">
              <a16:creationId xmlns:a16="http://schemas.microsoft.com/office/drawing/2014/main" id="{8F7DD65C-B2FF-DBFC-BE8F-0071DCE78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54dda1946d_6_308:notes">
            <a:extLst>
              <a:ext uri="{FF2B5EF4-FFF2-40B4-BE49-F238E27FC236}">
                <a16:creationId xmlns:a16="http://schemas.microsoft.com/office/drawing/2014/main" id="{0CFEF529-345E-BCE4-5A27-D4C6310793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54dda1946d_6_308:notes">
            <a:extLst>
              <a:ext uri="{FF2B5EF4-FFF2-40B4-BE49-F238E27FC236}">
                <a16:creationId xmlns:a16="http://schemas.microsoft.com/office/drawing/2014/main" id="{E80A9E64-F0D2-6974-D9F0-926E78D4E0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51196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9FBDDB06-C465-F0A0-BB48-F6F9D3388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D52C679C-6378-2B21-1221-E120086447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775A0056-431E-E3D1-CA75-0B016B5210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22616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3ECACE3C-FA32-C093-FF8E-BFDD48B3F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B48E3375-5D5E-FA28-9CC4-30014031DF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50141EAA-FB1D-D11B-CF84-D9E5FF55E2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95297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16DFF646-9282-4718-143B-5760F8713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AB433700-7388-BD85-32A4-9D5ADC2D46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6DF8D5B7-245E-905E-0B7C-09FB86F7A7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65728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D246BA82-DF9C-25E7-61C4-F238D15A6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C1AE2DD3-1181-0947-21CD-AC07747D4A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BD61DFC6-5EDB-6252-FA14-1D54098B10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8587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09C201A3-993A-D7C6-5FF0-C217AF290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4DAB9627-1306-7581-1599-A4BE8E331A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193A8B58-73E7-65F8-AECF-4CAD27297A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6842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EF042257-8814-A338-A60F-14F61827E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FBD5A6F3-175B-1485-F238-75723CD375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11483041-7AAC-895C-E5EB-8AAFCC369B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08609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D4E837E7-CE03-C880-7EE8-DAEEA8E0E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07D4CCDF-BB5F-36A4-6E96-0BACAC1417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B8C832B2-4AC7-2DFD-AD36-CDB5ADF9EB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88990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3D8AC0CE-FB12-EE4A-2DC0-ADC8D0115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014F72A1-C625-E73A-3031-0AFD56D363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E50A476C-C4FA-389E-9383-6F838E4F5B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3664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817A0384-F7F9-3B7E-C932-F5134F73B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403083C9-3A2A-BA5B-606A-4FE8D3CDEF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1958526B-6D8E-1F56-77F5-25839C6196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60069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9913D831-E677-7762-5D54-9B6B03C7D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E47C7D0F-46CE-7E3A-65ED-1B391D28A3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D84F1A4B-A48D-AFB5-1CB2-07F783B83A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9251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644614" y="-2747525"/>
            <a:ext cx="12278718" cy="10475804"/>
            <a:chOff x="-1644614" y="-2747525"/>
            <a:chExt cx="12278718" cy="10475804"/>
          </a:xfrm>
        </p:grpSpPr>
        <p:sp>
          <p:nvSpPr>
            <p:cNvPr id="10" name="Google Shape;10;p2"/>
            <p:cNvSpPr/>
            <p:nvPr/>
          </p:nvSpPr>
          <p:spPr>
            <a:xfrm rot="-2526399">
              <a:off x="5593085" y="3029310"/>
              <a:ext cx="4356710" cy="3718191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 rot="7128784">
              <a:off x="8363688" y="1001192"/>
              <a:ext cx="1703625" cy="1100471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490198">
              <a:off x="-1039429" y="-1920903"/>
              <a:ext cx="4803426" cy="393932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713225" y="2634850"/>
            <a:ext cx="3862500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713225" y="3970798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1"/>
          <p:cNvGrpSpPr/>
          <p:nvPr/>
        </p:nvGrpSpPr>
        <p:grpSpPr>
          <a:xfrm>
            <a:off x="-2029214" y="-2389503"/>
            <a:ext cx="12217127" cy="9357900"/>
            <a:chOff x="-2029214" y="-2389503"/>
            <a:chExt cx="12217127" cy="9357900"/>
          </a:xfrm>
        </p:grpSpPr>
        <p:sp>
          <p:nvSpPr>
            <p:cNvPr id="232" name="Google Shape;232;p11"/>
            <p:cNvSpPr/>
            <p:nvPr/>
          </p:nvSpPr>
          <p:spPr>
            <a:xfrm rot="7128936">
              <a:off x="-1270089" y="14427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1"/>
            <p:cNvSpPr/>
            <p:nvPr/>
          </p:nvSpPr>
          <p:spPr>
            <a:xfrm rot="-8306489">
              <a:off x="6312332" y="-1616947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1"/>
            <p:cNvSpPr/>
            <p:nvPr/>
          </p:nvSpPr>
          <p:spPr>
            <a:xfrm rot="-2526298">
              <a:off x="-1524420" y="-1666024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11"/>
          <p:cNvSpPr txBox="1">
            <a:spLocks noGrp="1"/>
          </p:cNvSpPr>
          <p:nvPr>
            <p:ph type="title" hasCustomPrompt="1"/>
          </p:nvPr>
        </p:nvSpPr>
        <p:spPr>
          <a:xfrm>
            <a:off x="5302675" y="2703800"/>
            <a:ext cx="3128100" cy="10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36" name="Google Shape;236;p11"/>
          <p:cNvSpPr txBox="1">
            <a:spLocks noGrp="1"/>
          </p:cNvSpPr>
          <p:nvPr>
            <p:ph type="subTitle" idx="1"/>
          </p:nvPr>
        </p:nvSpPr>
        <p:spPr>
          <a:xfrm>
            <a:off x="5302675" y="3673475"/>
            <a:ext cx="31281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98" name="Google Shape;398;p18"/>
          <p:cNvGrpSpPr/>
          <p:nvPr/>
        </p:nvGrpSpPr>
        <p:grpSpPr>
          <a:xfrm>
            <a:off x="-856733" y="-2184900"/>
            <a:ext cx="11910511" cy="8379762"/>
            <a:chOff x="-856733" y="-2184900"/>
            <a:chExt cx="11910511" cy="8379762"/>
          </a:xfrm>
        </p:grpSpPr>
        <p:sp>
          <p:nvSpPr>
            <p:cNvPr id="399" name="Google Shape;399;p18"/>
            <p:cNvSpPr/>
            <p:nvPr/>
          </p:nvSpPr>
          <p:spPr>
            <a:xfrm rot="-7341459">
              <a:off x="7305126" y="-1367050"/>
              <a:ext cx="3409980" cy="26781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8"/>
            <p:cNvSpPr/>
            <p:nvPr/>
          </p:nvSpPr>
          <p:spPr>
            <a:xfrm rot="-10245665" flipH="1">
              <a:off x="-723336" y="4183034"/>
              <a:ext cx="2247692" cy="1843349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p18"/>
          <p:cNvGrpSpPr/>
          <p:nvPr/>
        </p:nvGrpSpPr>
        <p:grpSpPr>
          <a:xfrm>
            <a:off x="262777" y="161945"/>
            <a:ext cx="7433887" cy="4873205"/>
            <a:chOff x="262777" y="161945"/>
            <a:chExt cx="7433887" cy="4873205"/>
          </a:xfrm>
        </p:grpSpPr>
        <p:sp>
          <p:nvSpPr>
            <p:cNvPr id="402" name="Google Shape;402;p18"/>
            <p:cNvSpPr/>
            <p:nvPr/>
          </p:nvSpPr>
          <p:spPr>
            <a:xfrm>
              <a:off x="7369989" y="16194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262777" y="4140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811063" y="48530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p18"/>
          <p:cNvGrpSpPr/>
          <p:nvPr/>
        </p:nvGrpSpPr>
        <p:grpSpPr>
          <a:xfrm>
            <a:off x="7886574" y="231922"/>
            <a:ext cx="1018096" cy="1211385"/>
            <a:chOff x="7886574" y="231922"/>
            <a:chExt cx="1018096" cy="1211385"/>
          </a:xfrm>
        </p:grpSpPr>
        <p:grpSp>
          <p:nvGrpSpPr>
            <p:cNvPr id="406" name="Google Shape;406;p18"/>
            <p:cNvGrpSpPr/>
            <p:nvPr/>
          </p:nvGrpSpPr>
          <p:grpSpPr>
            <a:xfrm>
              <a:off x="8496964" y="1054809"/>
              <a:ext cx="407706" cy="388498"/>
              <a:chOff x="2884583" y="645291"/>
              <a:chExt cx="285089" cy="271696"/>
            </a:xfrm>
          </p:grpSpPr>
          <p:sp>
            <p:nvSpPr>
              <p:cNvPr id="407" name="Google Shape;407;p18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18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9" name="Google Shape;409;p18"/>
            <p:cNvGrpSpPr/>
            <p:nvPr/>
          </p:nvGrpSpPr>
          <p:grpSpPr>
            <a:xfrm>
              <a:off x="7886574" y="231922"/>
              <a:ext cx="951900" cy="615157"/>
              <a:chOff x="4838012" y="1361547"/>
              <a:chExt cx="951900" cy="615157"/>
            </a:xfrm>
          </p:grpSpPr>
          <p:sp>
            <p:nvSpPr>
              <p:cNvPr id="410" name="Google Shape;410;p18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18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67" extrusionOk="0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18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8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18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18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18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43" extrusionOk="0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18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38" extrusionOk="0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18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avLst/>
                <a:gdLst/>
                <a:ahLst/>
                <a:cxnLst/>
                <a:rect l="l" t="t" r="r" b="b"/>
                <a:pathLst>
                  <a:path w="171" h="163" extrusionOk="0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18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8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18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18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18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18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18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18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18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18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22"/>
          <p:cNvGrpSpPr/>
          <p:nvPr/>
        </p:nvGrpSpPr>
        <p:grpSpPr>
          <a:xfrm>
            <a:off x="-2106233" y="-952769"/>
            <a:ext cx="12545486" cy="8509944"/>
            <a:chOff x="-2106233" y="-952769"/>
            <a:chExt cx="12545486" cy="8509944"/>
          </a:xfrm>
        </p:grpSpPr>
        <p:sp>
          <p:nvSpPr>
            <p:cNvPr id="511" name="Google Shape;511;p22"/>
            <p:cNvSpPr/>
            <p:nvPr/>
          </p:nvSpPr>
          <p:spPr>
            <a:xfrm rot="7341459" flipH="1">
              <a:off x="-1767562" y="4061175"/>
              <a:ext cx="3409980" cy="26781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22"/>
            <p:cNvSpPr/>
            <p:nvPr/>
          </p:nvSpPr>
          <p:spPr>
            <a:xfrm rot="10245665">
              <a:off x="8058163" y="-784291"/>
              <a:ext cx="2247692" cy="1843349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p22"/>
          <p:cNvGrpSpPr/>
          <p:nvPr/>
        </p:nvGrpSpPr>
        <p:grpSpPr>
          <a:xfrm>
            <a:off x="1087005" y="172450"/>
            <a:ext cx="7905012" cy="4753945"/>
            <a:chOff x="1087005" y="172450"/>
            <a:chExt cx="7905012" cy="4753945"/>
          </a:xfrm>
        </p:grpSpPr>
        <p:sp>
          <p:nvSpPr>
            <p:cNvPr id="514" name="Google Shape;514;p22"/>
            <p:cNvSpPr/>
            <p:nvPr/>
          </p:nvSpPr>
          <p:spPr>
            <a:xfrm flipH="1">
              <a:off x="1087005" y="46039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22"/>
            <p:cNvSpPr/>
            <p:nvPr/>
          </p:nvSpPr>
          <p:spPr>
            <a:xfrm flipH="1">
              <a:off x="8665343" y="7704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22"/>
            <p:cNvSpPr/>
            <p:nvPr/>
          </p:nvSpPr>
          <p:spPr>
            <a:xfrm flipH="1">
              <a:off x="8430782" y="1724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22"/>
          <p:cNvGrpSpPr/>
          <p:nvPr/>
        </p:nvGrpSpPr>
        <p:grpSpPr>
          <a:xfrm>
            <a:off x="-335165" y="3759862"/>
            <a:ext cx="1253120" cy="1142272"/>
            <a:chOff x="-335165" y="3759862"/>
            <a:chExt cx="1253120" cy="1142272"/>
          </a:xfrm>
        </p:grpSpPr>
        <p:grpSp>
          <p:nvGrpSpPr>
            <p:cNvPr id="518" name="Google Shape;518;p22"/>
            <p:cNvGrpSpPr/>
            <p:nvPr/>
          </p:nvGrpSpPr>
          <p:grpSpPr>
            <a:xfrm flipH="1">
              <a:off x="510249" y="4497559"/>
              <a:ext cx="407706" cy="388498"/>
              <a:chOff x="2884583" y="645291"/>
              <a:chExt cx="285089" cy="271696"/>
            </a:xfrm>
          </p:grpSpPr>
          <p:sp>
            <p:nvSpPr>
              <p:cNvPr id="519" name="Google Shape;519;p22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22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1" name="Google Shape;521;p22"/>
            <p:cNvGrpSpPr/>
            <p:nvPr/>
          </p:nvGrpSpPr>
          <p:grpSpPr>
            <a:xfrm>
              <a:off x="-335165" y="3759862"/>
              <a:ext cx="676370" cy="1142272"/>
              <a:chOff x="2757910" y="1240337"/>
              <a:chExt cx="676370" cy="1142272"/>
            </a:xfrm>
          </p:grpSpPr>
          <p:sp>
            <p:nvSpPr>
              <p:cNvPr id="522" name="Google Shape;522;p22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22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22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22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2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22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22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22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23"/>
          <p:cNvGrpSpPr/>
          <p:nvPr/>
        </p:nvGrpSpPr>
        <p:grpSpPr>
          <a:xfrm>
            <a:off x="-2000071" y="-3048428"/>
            <a:ext cx="12973783" cy="11115125"/>
            <a:chOff x="-2000071" y="-3048428"/>
            <a:chExt cx="12973783" cy="11115125"/>
          </a:xfrm>
        </p:grpSpPr>
        <p:sp>
          <p:nvSpPr>
            <p:cNvPr id="532" name="Google Shape;532;p23"/>
            <p:cNvSpPr/>
            <p:nvPr/>
          </p:nvSpPr>
          <p:spPr>
            <a:xfrm rot="-8306489">
              <a:off x="-1505843" y="3814578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/>
            <p:cNvSpPr/>
            <p:nvPr/>
          </p:nvSpPr>
          <p:spPr>
            <a:xfrm rot="-2526298">
              <a:off x="3963480" y="-23249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23"/>
            <p:cNvSpPr/>
            <p:nvPr/>
          </p:nvSpPr>
          <p:spPr>
            <a:xfrm rot="7128936">
              <a:off x="4994086" y="25410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" name="Google Shape;535;p23"/>
          <p:cNvGrpSpPr/>
          <p:nvPr/>
        </p:nvGrpSpPr>
        <p:grpSpPr>
          <a:xfrm>
            <a:off x="4039126" y="812484"/>
            <a:ext cx="4161347" cy="3655602"/>
            <a:chOff x="3840701" y="713259"/>
            <a:chExt cx="4161347" cy="3655602"/>
          </a:xfrm>
        </p:grpSpPr>
        <p:grpSp>
          <p:nvGrpSpPr>
            <p:cNvPr id="536" name="Google Shape;536;p23"/>
            <p:cNvGrpSpPr/>
            <p:nvPr/>
          </p:nvGrpSpPr>
          <p:grpSpPr>
            <a:xfrm>
              <a:off x="4501506" y="1401751"/>
              <a:ext cx="2461134" cy="1589525"/>
              <a:chOff x="2436192" y="2730596"/>
              <a:chExt cx="924300" cy="596960"/>
            </a:xfrm>
          </p:grpSpPr>
          <p:sp>
            <p:nvSpPr>
              <p:cNvPr id="537" name="Google Shape;537;p23"/>
              <p:cNvSpPr/>
              <p:nvPr/>
            </p:nvSpPr>
            <p:spPr>
              <a:xfrm>
                <a:off x="2436192" y="2786955"/>
                <a:ext cx="924300" cy="54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3"/>
              <p:cNvSpPr/>
              <p:nvPr/>
            </p:nvSpPr>
            <p:spPr>
              <a:xfrm>
                <a:off x="2436192" y="2730596"/>
                <a:ext cx="924297" cy="56360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23"/>
              <p:cNvSpPr/>
              <p:nvPr/>
            </p:nvSpPr>
            <p:spPr>
              <a:xfrm>
                <a:off x="2461152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3"/>
              <p:cNvSpPr/>
              <p:nvPr/>
            </p:nvSpPr>
            <p:spPr>
              <a:xfrm>
                <a:off x="2500603" y="2745893"/>
                <a:ext cx="261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3"/>
              <p:cNvSpPr/>
              <p:nvPr/>
            </p:nvSpPr>
            <p:spPr>
              <a:xfrm>
                <a:off x="2540860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23"/>
              <p:cNvSpPr/>
              <p:nvPr/>
            </p:nvSpPr>
            <p:spPr>
              <a:xfrm>
                <a:off x="2481682" y="2858210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23"/>
              <p:cNvSpPr/>
              <p:nvPr/>
            </p:nvSpPr>
            <p:spPr>
              <a:xfrm>
                <a:off x="2481682" y="2943152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3"/>
              <p:cNvSpPr/>
              <p:nvPr/>
            </p:nvSpPr>
            <p:spPr>
              <a:xfrm>
                <a:off x="2481682" y="3028497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23"/>
              <p:cNvSpPr/>
              <p:nvPr/>
            </p:nvSpPr>
            <p:spPr>
              <a:xfrm>
                <a:off x="2481682" y="3113439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23"/>
              <p:cNvSpPr/>
              <p:nvPr/>
            </p:nvSpPr>
            <p:spPr>
              <a:xfrm>
                <a:off x="2481682" y="2898467"/>
                <a:ext cx="833718" cy="392507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2481682" y="2914972"/>
                <a:ext cx="833718" cy="376001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" name="Google Shape;548;p23"/>
            <p:cNvGrpSpPr/>
            <p:nvPr/>
          </p:nvGrpSpPr>
          <p:grpSpPr>
            <a:xfrm>
              <a:off x="6621346" y="1957399"/>
              <a:ext cx="1380702" cy="2411461"/>
              <a:chOff x="6502296" y="1615124"/>
              <a:chExt cx="1380702" cy="2411461"/>
            </a:xfrm>
          </p:grpSpPr>
          <p:sp>
            <p:nvSpPr>
              <p:cNvPr id="549" name="Google Shape;549;p23"/>
              <p:cNvSpPr/>
              <p:nvPr/>
            </p:nvSpPr>
            <p:spPr>
              <a:xfrm>
                <a:off x="6990675" y="1711100"/>
                <a:ext cx="396300" cy="486450"/>
              </a:xfrm>
              <a:custGeom>
                <a:avLst/>
                <a:gdLst/>
                <a:ahLst/>
                <a:cxnLst/>
                <a:rect l="l" t="t" r="r" b="b"/>
                <a:pathLst>
                  <a:path w="15852" h="19458" extrusionOk="0">
                    <a:moveTo>
                      <a:pt x="0" y="5579"/>
                    </a:moveTo>
                    <a:lnTo>
                      <a:pt x="1701" y="19458"/>
                    </a:lnTo>
                    <a:lnTo>
                      <a:pt x="15852" y="16941"/>
                    </a:lnTo>
                    <a:lnTo>
                      <a:pt x="12314" y="2177"/>
                    </a:lnTo>
                    <a:lnTo>
                      <a:pt x="57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550" name="Google Shape;550;p23"/>
              <p:cNvSpPr/>
              <p:nvPr/>
            </p:nvSpPr>
            <p:spPr>
              <a:xfrm>
                <a:off x="6934616" y="1685929"/>
                <a:ext cx="451384" cy="297518"/>
              </a:xfrm>
              <a:custGeom>
                <a:avLst/>
                <a:gdLst/>
                <a:ahLst/>
                <a:cxnLst/>
                <a:rect l="l" t="t" r="r" b="b"/>
                <a:pathLst>
                  <a:path w="506" h="334" extrusionOk="0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6888321" y="2511763"/>
                <a:ext cx="815622" cy="1284027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439" extrusionOk="0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6942105" y="1981405"/>
                <a:ext cx="425511" cy="571206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41" extrusionOk="0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>
                <a:off x="7548715" y="3707962"/>
                <a:ext cx="309092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5" extrusionOk="0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>
                <a:off x="7550077" y="3796469"/>
                <a:ext cx="332921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3"/>
              <p:cNvSpPr/>
              <p:nvPr/>
            </p:nvSpPr>
            <p:spPr>
              <a:xfrm>
                <a:off x="6908745" y="3707962"/>
                <a:ext cx="312496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05" extrusionOk="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3"/>
              <p:cNvSpPr/>
              <p:nvPr/>
            </p:nvSpPr>
            <p:spPr>
              <a:xfrm>
                <a:off x="6886959" y="3796469"/>
                <a:ext cx="332239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3"/>
              <p:cNvSpPr/>
              <p:nvPr/>
            </p:nvSpPr>
            <p:spPr>
              <a:xfrm>
                <a:off x="7212391" y="2059699"/>
                <a:ext cx="548060" cy="51878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82" extrusionOk="0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3"/>
              <p:cNvSpPr/>
              <p:nvPr/>
            </p:nvSpPr>
            <p:spPr>
              <a:xfrm>
                <a:off x="7370341" y="2319091"/>
                <a:ext cx="184502" cy="54466"/>
              </a:xfrm>
              <a:custGeom>
                <a:avLst/>
                <a:gdLst/>
                <a:ahLst/>
                <a:cxnLst/>
                <a:rect l="l" t="t" r="r" b="b"/>
                <a:pathLst>
                  <a:path w="271" h="80" extrusionOk="0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3"/>
              <p:cNvSpPr/>
              <p:nvPr/>
            </p:nvSpPr>
            <p:spPr>
              <a:xfrm>
                <a:off x="6615312" y="2037232"/>
                <a:ext cx="395556" cy="444575"/>
              </a:xfrm>
              <a:custGeom>
                <a:avLst/>
                <a:gdLst/>
                <a:ahLst/>
                <a:cxnLst/>
                <a:rect l="l" t="t" r="r" b="b"/>
                <a:pathLst>
                  <a:path w="443" h="498" extrusionOk="0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23"/>
              <p:cNvSpPr/>
              <p:nvPr/>
            </p:nvSpPr>
            <p:spPr>
              <a:xfrm>
                <a:off x="6534295" y="2008637"/>
                <a:ext cx="111654" cy="141611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59" extrusionOk="0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3"/>
              <p:cNvSpPr/>
              <p:nvPr/>
            </p:nvSpPr>
            <p:spPr>
              <a:xfrm>
                <a:off x="6565612" y="2143440"/>
                <a:ext cx="33360" cy="2723"/>
              </a:xfrm>
              <a:custGeom>
                <a:avLst/>
                <a:gdLst/>
                <a:ahLst/>
                <a:cxnLst/>
                <a:rect l="l" t="t" r="r" b="b"/>
                <a:pathLst>
                  <a:path w="37" h="3" extrusionOk="0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3"/>
              <p:cNvSpPr/>
              <p:nvPr/>
            </p:nvSpPr>
            <p:spPr>
              <a:xfrm>
                <a:off x="6539060" y="2073996"/>
                <a:ext cx="99400" cy="7216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81" extrusionOk="0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3"/>
              <p:cNvSpPr/>
              <p:nvPr/>
            </p:nvSpPr>
            <p:spPr>
              <a:xfrm>
                <a:off x="6586037" y="1939875"/>
                <a:ext cx="5447" cy="49019"/>
              </a:xfrm>
              <a:custGeom>
                <a:avLst/>
                <a:gdLst/>
                <a:ahLst/>
                <a:cxnLst/>
                <a:rect l="l" t="t" r="r" b="b"/>
                <a:pathLst>
                  <a:path w="8" h="72" extrusionOk="0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4" name="Google Shape;564;p23"/>
              <p:cNvCxnSpPr/>
              <p:nvPr/>
            </p:nvCxnSpPr>
            <p:spPr>
              <a:xfrm flipH="1">
                <a:off x="6586084" y="193987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565" name="Google Shape;565;p23"/>
              <p:cNvSpPr/>
              <p:nvPr/>
            </p:nvSpPr>
            <p:spPr>
              <a:xfrm>
                <a:off x="6576506" y="1939194"/>
                <a:ext cx="24510" cy="51742"/>
              </a:xfrm>
              <a:custGeom>
                <a:avLst/>
                <a:gdLst/>
                <a:ahLst/>
                <a:cxnLst/>
                <a:rect l="l" t="t" r="r" b="b"/>
                <a:pathLst>
                  <a:path w="36" h="76" extrusionOk="0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23"/>
              <p:cNvSpPr/>
              <p:nvPr/>
            </p:nvSpPr>
            <p:spPr>
              <a:xfrm>
                <a:off x="6547911" y="1973235"/>
                <a:ext cx="61274" cy="160673"/>
              </a:xfrm>
              <a:custGeom>
                <a:avLst/>
                <a:gdLst/>
                <a:ahLst/>
                <a:cxnLst/>
                <a:rect l="l" t="t" r="r" b="b"/>
                <a:pathLst>
                  <a:path w="69" h="180" extrusionOk="0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3"/>
              <p:cNvSpPr/>
              <p:nvPr/>
            </p:nvSpPr>
            <p:spPr>
              <a:xfrm>
                <a:off x="6521359" y="1732225"/>
                <a:ext cx="161354" cy="202203"/>
              </a:xfrm>
              <a:custGeom>
                <a:avLst/>
                <a:gdLst/>
                <a:ahLst/>
                <a:cxnLst/>
                <a:rect l="l" t="t" r="r" b="b"/>
                <a:pathLst>
                  <a:path w="181" h="227" extrusionOk="0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3"/>
              <p:cNvSpPr/>
              <p:nvPr/>
            </p:nvSpPr>
            <p:spPr>
              <a:xfrm>
                <a:off x="6502296" y="1708396"/>
                <a:ext cx="197438" cy="25598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87" extrusionOk="0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3"/>
              <p:cNvSpPr/>
              <p:nvPr/>
            </p:nvSpPr>
            <p:spPr>
              <a:xfrm>
                <a:off x="6505019" y="2005233"/>
                <a:ext cx="101442" cy="12322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6539741" y="1976639"/>
                <a:ext cx="118462" cy="117101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3"/>
              <p:cNvSpPr/>
              <p:nvPr/>
            </p:nvSpPr>
            <p:spPr>
              <a:xfrm>
                <a:off x="6539741" y="2022935"/>
                <a:ext cx="60593" cy="51061"/>
              </a:xfrm>
              <a:custGeom>
                <a:avLst/>
                <a:gdLst/>
                <a:ahLst/>
                <a:cxnLst/>
                <a:rect l="l" t="t" r="r" b="b"/>
                <a:pathLst>
                  <a:path w="68" h="57" extrusionOk="0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3"/>
              <p:cNvSpPr/>
              <p:nvPr/>
            </p:nvSpPr>
            <p:spPr>
              <a:xfrm>
                <a:off x="6533614" y="2097825"/>
                <a:ext cx="53785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60" h="12" extrusionOk="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3"/>
              <p:cNvSpPr/>
              <p:nvPr/>
            </p:nvSpPr>
            <p:spPr>
              <a:xfrm>
                <a:off x="6534295" y="2068549"/>
                <a:ext cx="63316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" extrusionOk="0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23"/>
              <p:cNvSpPr/>
              <p:nvPr/>
            </p:nvSpPr>
            <p:spPr>
              <a:xfrm>
                <a:off x="6539741" y="2042678"/>
                <a:ext cx="51742" cy="14297"/>
              </a:xfrm>
              <a:custGeom>
                <a:avLst/>
                <a:gdLst/>
                <a:ahLst/>
                <a:cxnLst/>
                <a:rect l="l" t="t" r="r" b="b"/>
                <a:pathLst>
                  <a:path w="58" h="16" extrusionOk="0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6590803" y="2051529"/>
                <a:ext cx="681" cy="5447"/>
              </a:xfrm>
              <a:custGeom>
                <a:avLst/>
                <a:gdLst/>
                <a:ahLst/>
                <a:cxnLst/>
                <a:rect l="l" t="t" r="r" b="b"/>
                <a:pathLst>
                  <a:path w="1" h="6" extrusionOk="0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6601015" y="2027700"/>
                <a:ext cx="411214" cy="510615"/>
              </a:xfrm>
              <a:custGeom>
                <a:avLst/>
                <a:gdLst/>
                <a:ahLst/>
                <a:cxnLst/>
                <a:rect l="l" t="t" r="r" b="b"/>
                <a:pathLst>
                  <a:path w="461" h="573" extrusionOk="0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>
                <a:off x="6904660" y="2201309"/>
                <a:ext cx="66040" cy="29002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25" extrusionOk="0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3"/>
              <p:cNvSpPr/>
              <p:nvPr/>
            </p:nvSpPr>
            <p:spPr>
              <a:xfrm>
                <a:off x="6925085" y="1981405"/>
                <a:ext cx="442532" cy="590271"/>
              </a:xfrm>
              <a:custGeom>
                <a:avLst/>
                <a:gdLst/>
                <a:ahLst/>
                <a:cxnLst/>
                <a:rect l="l" t="t" r="r" b="b"/>
                <a:pathLst>
                  <a:path w="496" h="662" extrusionOk="0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3"/>
              <p:cNvSpPr/>
              <p:nvPr/>
            </p:nvSpPr>
            <p:spPr>
              <a:xfrm>
                <a:off x="6888321" y="2511763"/>
                <a:ext cx="822429" cy="1230922"/>
              </a:xfrm>
              <a:custGeom>
                <a:avLst/>
                <a:gdLst/>
                <a:ahLst/>
                <a:cxnLst/>
                <a:rect l="l" t="t" r="r" b="b"/>
                <a:pathLst>
                  <a:path w="922" h="1380" extrusionOk="0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7078269" y="1878601"/>
                <a:ext cx="125271" cy="239648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69" extrusionOk="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7203540" y="1907876"/>
                <a:ext cx="0" cy="2246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25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3"/>
              <p:cNvSpPr/>
              <p:nvPr/>
            </p:nvSpPr>
            <p:spPr>
              <a:xfrm>
                <a:off x="7086439" y="1907876"/>
                <a:ext cx="117101" cy="61274"/>
              </a:xfrm>
              <a:custGeom>
                <a:avLst/>
                <a:gdLst/>
                <a:ahLst/>
                <a:cxnLst/>
                <a:rect l="l" t="t" r="r" b="b"/>
                <a:pathLst>
                  <a:path w="131" h="69" extrusionOk="0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3"/>
              <p:cNvSpPr/>
              <p:nvPr/>
            </p:nvSpPr>
            <p:spPr>
              <a:xfrm>
                <a:off x="7004741" y="1678440"/>
                <a:ext cx="240330" cy="294795"/>
              </a:xfrm>
              <a:custGeom>
                <a:avLst/>
                <a:gdLst/>
                <a:ahLst/>
                <a:cxnLst/>
                <a:rect l="l" t="t" r="r" b="b"/>
                <a:pathLst>
                  <a:path w="270" h="330" extrusionOk="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7145670" y="1845241"/>
                <a:ext cx="43572" cy="21786"/>
              </a:xfrm>
              <a:custGeom>
                <a:avLst/>
                <a:gdLst/>
                <a:ahLst/>
                <a:cxnLst/>
                <a:rect l="l" t="t" r="r" b="b"/>
                <a:pathLst>
                  <a:path w="49" h="24" extrusionOk="0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7004741" y="1828220"/>
                <a:ext cx="15659" cy="170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9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23"/>
              <p:cNvSpPr/>
              <p:nvPr/>
            </p:nvSpPr>
            <p:spPr>
              <a:xfrm>
                <a:off x="7028569" y="1805073"/>
                <a:ext cx="25191" cy="44934"/>
              </a:xfrm>
              <a:custGeom>
                <a:avLst/>
                <a:gdLst/>
                <a:ahLst/>
                <a:cxnLst/>
                <a:rect l="l" t="t" r="r" b="b"/>
                <a:pathLst>
                  <a:path w="28" h="50" extrusionOk="0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23"/>
              <p:cNvSpPr/>
              <p:nvPr/>
            </p:nvSpPr>
            <p:spPr>
              <a:xfrm>
                <a:off x="7097332" y="1749245"/>
                <a:ext cx="61274" cy="64678"/>
              </a:xfrm>
              <a:custGeom>
                <a:avLst/>
                <a:gdLst/>
                <a:ahLst/>
                <a:cxnLst/>
                <a:rect l="l" t="t" r="r" b="b"/>
                <a:pathLst>
                  <a:path w="69" h="73" extrusionOk="0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23"/>
              <p:cNvSpPr/>
              <p:nvPr/>
            </p:nvSpPr>
            <p:spPr>
              <a:xfrm>
                <a:off x="7010868" y="1752649"/>
                <a:ext cx="49019" cy="48338"/>
              </a:xfrm>
              <a:custGeom>
                <a:avLst/>
                <a:gdLst/>
                <a:ahLst/>
                <a:cxnLst/>
                <a:rect l="l" t="t" r="r" b="b"/>
                <a:pathLst>
                  <a:path w="55" h="54" extrusionOk="0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23"/>
              <p:cNvSpPr/>
              <p:nvPr/>
            </p:nvSpPr>
            <p:spPr>
              <a:xfrm>
                <a:off x="7228049" y="1789414"/>
                <a:ext cx="66040" cy="129356"/>
              </a:xfrm>
              <a:custGeom>
                <a:avLst/>
                <a:gdLst/>
                <a:ahLst/>
                <a:cxnLst/>
                <a:rect l="l" t="t" r="r" b="b"/>
                <a:pathLst>
                  <a:path w="74" h="145" extrusionOk="0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23"/>
              <p:cNvSpPr/>
              <p:nvPr/>
            </p:nvSpPr>
            <p:spPr>
              <a:xfrm>
                <a:off x="7234857" y="1819370"/>
                <a:ext cx="33360" cy="27233"/>
              </a:xfrm>
              <a:custGeom>
                <a:avLst/>
                <a:gdLst/>
                <a:ahLst/>
                <a:cxnLst/>
                <a:rect l="l" t="t" r="r" b="b"/>
                <a:pathLst>
                  <a:path w="38" h="30" extrusionOk="0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3"/>
              <p:cNvSpPr/>
              <p:nvPr/>
            </p:nvSpPr>
            <p:spPr>
              <a:xfrm>
                <a:off x="6982954" y="1615124"/>
                <a:ext cx="307050" cy="19471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18" extrusionOk="0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3"/>
              <p:cNvSpPr/>
              <p:nvPr/>
            </p:nvSpPr>
            <p:spPr>
              <a:xfrm>
                <a:off x="7394850" y="2367429"/>
                <a:ext cx="39487" cy="211054"/>
              </a:xfrm>
              <a:custGeom>
                <a:avLst/>
                <a:gdLst/>
                <a:ahLst/>
                <a:cxnLst/>
                <a:rect l="l" t="t" r="r" b="b"/>
                <a:pathLst>
                  <a:path w="44" h="237" extrusionOk="0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rgbClr val="27314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3"/>
              <p:cNvSpPr/>
              <p:nvPr/>
            </p:nvSpPr>
            <p:spPr>
              <a:xfrm>
                <a:off x="7071461" y="2201990"/>
                <a:ext cx="322709" cy="447298"/>
              </a:xfrm>
              <a:custGeom>
                <a:avLst/>
                <a:gdLst/>
                <a:ahLst/>
                <a:cxnLst/>
                <a:rect l="l" t="t" r="r" b="b"/>
                <a:pathLst>
                  <a:path w="362" h="501" extrusionOk="0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23"/>
              <p:cNvSpPr/>
              <p:nvPr/>
            </p:nvSpPr>
            <p:spPr>
              <a:xfrm>
                <a:off x="7197413" y="231909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3"/>
              <p:cNvSpPr/>
              <p:nvPr/>
            </p:nvSpPr>
            <p:spPr>
              <a:xfrm>
                <a:off x="7270941" y="2312283"/>
                <a:ext cx="171567" cy="204927"/>
              </a:xfrm>
              <a:custGeom>
                <a:avLst/>
                <a:gdLst/>
                <a:ahLst/>
                <a:cxnLst/>
                <a:rect l="l" t="t" r="r" b="b"/>
                <a:pathLst>
                  <a:path w="192" h="230" extrusionOk="0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3"/>
              <p:cNvSpPr/>
              <p:nvPr/>
            </p:nvSpPr>
            <p:spPr>
              <a:xfrm>
                <a:off x="7104140" y="1805073"/>
                <a:ext cx="27233" cy="47657"/>
              </a:xfrm>
              <a:custGeom>
                <a:avLst/>
                <a:gdLst/>
                <a:ahLst/>
                <a:cxnLst/>
                <a:rect l="l" t="t" r="r" b="b"/>
                <a:pathLst>
                  <a:path w="30" h="53" extrusionOk="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23"/>
            <p:cNvGrpSpPr/>
            <p:nvPr/>
          </p:nvGrpSpPr>
          <p:grpSpPr>
            <a:xfrm>
              <a:off x="5350825" y="945922"/>
              <a:ext cx="669524" cy="947131"/>
              <a:chOff x="6000261" y="1225220"/>
              <a:chExt cx="627600" cy="887824"/>
            </a:xfrm>
          </p:grpSpPr>
          <p:sp>
            <p:nvSpPr>
              <p:cNvPr id="598" name="Google Shape;598;p2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2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2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2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2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2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2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2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2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2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2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1" name="Google Shape;611;p23"/>
            <p:cNvGrpSpPr/>
            <p:nvPr/>
          </p:nvGrpSpPr>
          <p:grpSpPr>
            <a:xfrm flipH="1">
              <a:off x="6374171" y="713259"/>
              <a:ext cx="588491" cy="951052"/>
              <a:chOff x="1062996" y="1340396"/>
              <a:chExt cx="588491" cy="951052"/>
            </a:xfrm>
          </p:grpSpPr>
          <p:sp>
            <p:nvSpPr>
              <p:cNvPr id="612" name="Google Shape;612;p23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23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23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23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23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23"/>
            <p:cNvGrpSpPr/>
            <p:nvPr/>
          </p:nvGrpSpPr>
          <p:grpSpPr>
            <a:xfrm>
              <a:off x="4997878" y="2657014"/>
              <a:ext cx="471946" cy="712345"/>
              <a:chOff x="2047101" y="2145599"/>
              <a:chExt cx="407553" cy="615151"/>
            </a:xfrm>
          </p:grpSpPr>
          <p:sp>
            <p:nvSpPr>
              <p:cNvPr id="619" name="Google Shape;619;p2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2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2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2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2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2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2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2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2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2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2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2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2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2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2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2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2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2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2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2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2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" name="Google Shape;649;p23"/>
            <p:cNvGrpSpPr/>
            <p:nvPr/>
          </p:nvGrpSpPr>
          <p:grpSpPr>
            <a:xfrm>
              <a:off x="7164619" y="1316177"/>
              <a:ext cx="415198" cy="415198"/>
              <a:chOff x="1404969" y="1106377"/>
              <a:chExt cx="415198" cy="415198"/>
            </a:xfrm>
          </p:grpSpPr>
          <p:sp>
            <p:nvSpPr>
              <p:cNvPr id="650" name="Google Shape;650;p23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23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2" name="Google Shape;652;p23"/>
            <p:cNvSpPr/>
            <p:nvPr/>
          </p:nvSpPr>
          <p:spPr>
            <a:xfrm>
              <a:off x="3840701" y="867524"/>
              <a:ext cx="531600" cy="876850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6535672" y="3138738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5627753" y="3138762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0000" y="1063351"/>
            <a:ext cx="77040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>
                <a:solidFill>
                  <a:srgbClr val="201338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6" name="Google Shape;26;p4"/>
          <p:cNvGrpSpPr/>
          <p:nvPr/>
        </p:nvGrpSpPr>
        <p:grpSpPr>
          <a:xfrm>
            <a:off x="-2070957" y="-2181586"/>
            <a:ext cx="12789989" cy="9622630"/>
            <a:chOff x="-2070957" y="-2181586"/>
            <a:chExt cx="12789989" cy="9622630"/>
          </a:xfrm>
        </p:grpSpPr>
        <p:sp>
          <p:nvSpPr>
            <p:cNvPr id="27" name="Google Shape;27;p4"/>
            <p:cNvSpPr/>
            <p:nvPr/>
          </p:nvSpPr>
          <p:spPr>
            <a:xfrm rot="-7978753">
              <a:off x="7222940" y="-1435304"/>
              <a:ext cx="3098931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4"/>
            <p:cNvSpPr/>
            <p:nvPr/>
          </p:nvSpPr>
          <p:spPr>
            <a:xfrm rot="-2460279">
              <a:off x="-1652662" y="4289121"/>
              <a:ext cx="3098932" cy="24338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29;p4"/>
          <p:cNvGrpSpPr/>
          <p:nvPr/>
        </p:nvGrpSpPr>
        <p:grpSpPr>
          <a:xfrm>
            <a:off x="8350786" y="175533"/>
            <a:ext cx="627600" cy="887824"/>
            <a:chOff x="2443886" y="2869758"/>
            <a:chExt cx="627600" cy="887824"/>
          </a:xfrm>
        </p:grpSpPr>
        <p:sp>
          <p:nvSpPr>
            <p:cNvPr id="30" name="Google Shape;30;p4"/>
            <p:cNvSpPr/>
            <p:nvPr/>
          </p:nvSpPr>
          <p:spPr>
            <a:xfrm>
              <a:off x="2443886" y="2937682"/>
              <a:ext cx="627600" cy="819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2443886" y="2869758"/>
              <a:ext cx="627579" cy="67924"/>
            </a:xfrm>
            <a:custGeom>
              <a:avLst/>
              <a:gdLst/>
              <a:ahLst/>
              <a:cxnLst/>
              <a:rect l="l" t="t" r="r" b="b"/>
              <a:pathLst>
                <a:path w="718" h="78" extrusionOk="0">
                  <a:moveTo>
                    <a:pt x="681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16" y="0"/>
                    <a:pt x="0" y="16"/>
                    <a:pt x="0" y="37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718" y="78"/>
                    <a:pt x="718" y="78"/>
                    <a:pt x="718" y="78"/>
                  </a:cubicBezTo>
                  <a:cubicBezTo>
                    <a:pt x="718" y="37"/>
                    <a:pt x="718" y="37"/>
                    <a:pt x="718" y="37"/>
                  </a:cubicBezTo>
                  <a:cubicBezTo>
                    <a:pt x="718" y="16"/>
                    <a:pt x="701" y="0"/>
                    <a:pt x="6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2473543" y="2887935"/>
              <a:ext cx="31500" cy="30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2521377" y="2887935"/>
              <a:ext cx="31500" cy="30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2570168" y="2887935"/>
              <a:ext cx="30600" cy="30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2544337" y="3316526"/>
              <a:ext cx="97500" cy="142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2692622" y="3217988"/>
              <a:ext cx="98400" cy="241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2840906" y="3129017"/>
              <a:ext cx="97500" cy="33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2578777" y="2982646"/>
              <a:ext cx="308049" cy="309007"/>
            </a:xfrm>
            <a:custGeom>
              <a:avLst/>
              <a:gdLst/>
              <a:ahLst/>
              <a:cxnLst/>
              <a:rect l="l" t="t" r="r" b="b"/>
              <a:pathLst>
                <a:path w="352" h="353" extrusionOk="0">
                  <a:moveTo>
                    <a:pt x="351" y="56"/>
                  </a:moveTo>
                  <a:cubicBezTo>
                    <a:pt x="350" y="51"/>
                    <a:pt x="347" y="47"/>
                    <a:pt x="343" y="45"/>
                  </a:cubicBezTo>
                  <a:cubicBezTo>
                    <a:pt x="262" y="4"/>
                    <a:pt x="262" y="4"/>
                    <a:pt x="262" y="4"/>
                  </a:cubicBezTo>
                  <a:cubicBezTo>
                    <a:pt x="255" y="0"/>
                    <a:pt x="246" y="3"/>
                    <a:pt x="242" y="11"/>
                  </a:cubicBezTo>
                  <a:cubicBezTo>
                    <a:pt x="238" y="18"/>
                    <a:pt x="241" y="27"/>
                    <a:pt x="249" y="31"/>
                  </a:cubicBezTo>
                  <a:cubicBezTo>
                    <a:pt x="290" y="52"/>
                    <a:pt x="290" y="52"/>
                    <a:pt x="290" y="52"/>
                  </a:cubicBezTo>
                  <a:cubicBezTo>
                    <a:pt x="43" y="111"/>
                    <a:pt x="2" y="333"/>
                    <a:pt x="2" y="335"/>
                  </a:cubicBezTo>
                  <a:cubicBezTo>
                    <a:pt x="0" y="343"/>
                    <a:pt x="6" y="351"/>
                    <a:pt x="14" y="352"/>
                  </a:cubicBezTo>
                  <a:cubicBezTo>
                    <a:pt x="15" y="353"/>
                    <a:pt x="15" y="353"/>
                    <a:pt x="16" y="353"/>
                  </a:cubicBezTo>
                  <a:cubicBezTo>
                    <a:pt x="23" y="353"/>
                    <a:pt x="30" y="348"/>
                    <a:pt x="31" y="340"/>
                  </a:cubicBezTo>
                  <a:cubicBezTo>
                    <a:pt x="31" y="338"/>
                    <a:pt x="69" y="134"/>
                    <a:pt x="300" y="80"/>
                  </a:cubicBezTo>
                  <a:cubicBezTo>
                    <a:pt x="268" y="120"/>
                    <a:pt x="268" y="120"/>
                    <a:pt x="268" y="120"/>
                  </a:cubicBezTo>
                  <a:cubicBezTo>
                    <a:pt x="263" y="126"/>
                    <a:pt x="264" y="135"/>
                    <a:pt x="270" y="141"/>
                  </a:cubicBezTo>
                  <a:cubicBezTo>
                    <a:pt x="273" y="143"/>
                    <a:pt x="276" y="144"/>
                    <a:pt x="280" y="144"/>
                  </a:cubicBezTo>
                  <a:cubicBezTo>
                    <a:pt x="284" y="144"/>
                    <a:pt x="288" y="142"/>
                    <a:pt x="291" y="138"/>
                  </a:cubicBezTo>
                  <a:cubicBezTo>
                    <a:pt x="348" y="68"/>
                    <a:pt x="348" y="68"/>
                    <a:pt x="348" y="68"/>
                  </a:cubicBezTo>
                  <a:cubicBezTo>
                    <a:pt x="351" y="65"/>
                    <a:pt x="352" y="60"/>
                    <a:pt x="351" y="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2515637" y="3521255"/>
              <a:ext cx="483000" cy="2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2515637" y="3573872"/>
              <a:ext cx="483000" cy="2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2568254" y="3626489"/>
              <a:ext cx="377700" cy="2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2636178" y="3679106"/>
              <a:ext cx="242100" cy="2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150790" y="217095"/>
            <a:ext cx="7996462" cy="5057956"/>
            <a:chOff x="150790" y="217095"/>
            <a:chExt cx="7996462" cy="5057956"/>
          </a:xfrm>
        </p:grpSpPr>
        <p:sp>
          <p:nvSpPr>
            <p:cNvPr id="44" name="Google Shape;44;p4"/>
            <p:cNvSpPr/>
            <p:nvPr/>
          </p:nvSpPr>
          <p:spPr>
            <a:xfrm>
              <a:off x="7820577" y="217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" name="Google Shape;45;p4"/>
            <p:cNvGrpSpPr/>
            <p:nvPr/>
          </p:nvGrpSpPr>
          <p:grpSpPr>
            <a:xfrm rot="-8329653">
              <a:off x="354633" y="4434969"/>
              <a:ext cx="451704" cy="788937"/>
              <a:chOff x="8579627" y="228750"/>
              <a:chExt cx="451723" cy="788970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8579627" y="695320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8846775" y="228750"/>
                <a:ext cx="184575" cy="1821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51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871075" y="2969400"/>
            <a:ext cx="4559700" cy="130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100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871075" y="2425725"/>
            <a:ext cx="996900" cy="70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400" b="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871075" y="4229000"/>
            <a:ext cx="45597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DM Sans 14pt"/>
                <a:ea typeface="DM Sans 14pt"/>
                <a:cs typeface="DM Sans 14pt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" name="Google Shape;19;p3"/>
          <p:cNvGrpSpPr/>
          <p:nvPr/>
        </p:nvGrpSpPr>
        <p:grpSpPr>
          <a:xfrm>
            <a:off x="-3162649" y="-2703928"/>
            <a:ext cx="13165613" cy="11244425"/>
            <a:chOff x="-3162649" y="-2703928"/>
            <a:chExt cx="13165613" cy="11244425"/>
          </a:xfrm>
        </p:grpSpPr>
        <p:sp>
          <p:nvSpPr>
            <p:cNvPr id="20" name="Google Shape;20;p3"/>
            <p:cNvSpPr/>
            <p:nvPr/>
          </p:nvSpPr>
          <p:spPr>
            <a:xfrm rot="-8306489">
              <a:off x="6127382" y="-1119897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-2526298">
              <a:off x="-1178945" y="-19804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rot="7128936">
              <a:off x="-2814439" y="30148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2112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sz="32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8" r:id="rId3"/>
    <p:sldLayoutId id="2147483664" r:id="rId4"/>
    <p:sldLayoutId id="2147483668" r:id="rId5"/>
    <p:sldLayoutId id="2147483669" r:id="rId6"/>
    <p:sldLayoutId id="2147483674" r:id="rId7"/>
    <p:sldLayoutId id="2147483675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brionesr96/SuperBike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7"/>
          <p:cNvSpPr txBox="1">
            <a:spLocks noGrp="1"/>
          </p:cNvSpPr>
          <p:nvPr>
            <p:ph type="ctrTitle"/>
          </p:nvPr>
        </p:nvSpPr>
        <p:spPr>
          <a:xfrm>
            <a:off x="633680" y="778704"/>
            <a:ext cx="3862500" cy="25921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Super Bikes!</a:t>
            </a:r>
            <a:endParaRPr sz="4400" dirty="0"/>
          </a:p>
        </p:txBody>
      </p:sp>
      <p:sp>
        <p:nvSpPr>
          <p:cNvPr id="667" name="Google Shape;667;p27"/>
          <p:cNvSpPr txBox="1">
            <a:spLocks noGrp="1"/>
          </p:cNvSpPr>
          <p:nvPr>
            <p:ph type="subTitle" idx="1"/>
          </p:nvPr>
        </p:nvSpPr>
        <p:spPr>
          <a:xfrm>
            <a:off x="5513729" y="276842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/>
              <a:t>Data Science for Management Master</a:t>
            </a:r>
            <a:endParaRPr sz="1050" dirty="0"/>
          </a:p>
        </p:txBody>
      </p:sp>
      <p:sp>
        <p:nvSpPr>
          <p:cNvPr id="668" name="Google Shape;668;p27"/>
          <p:cNvSpPr txBox="1">
            <a:spLocks noGrp="1"/>
          </p:cNvSpPr>
          <p:nvPr>
            <p:ph type="subTitle" idx="1"/>
          </p:nvPr>
        </p:nvSpPr>
        <p:spPr>
          <a:xfrm>
            <a:off x="7417325" y="432175"/>
            <a:ext cx="1087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6th Grade</a:t>
            </a:r>
            <a:endParaRPr>
              <a:solidFill>
                <a:schemeClr val="dk2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5C092F2C-3E3B-932D-D4C2-3C85EC5B7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329" y="206826"/>
            <a:ext cx="744992" cy="744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6587F6-EE40-8C09-22CC-156B67921FD0}"/>
              </a:ext>
            </a:extLst>
          </p:cNvPr>
          <p:cNvSpPr txBox="1"/>
          <p:nvPr/>
        </p:nvSpPr>
        <p:spPr>
          <a:xfrm>
            <a:off x="633680" y="3240081"/>
            <a:ext cx="558437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accent1">
                    <a:lumMod val="75000"/>
                  </a:schemeClr>
                </a:solidFill>
                <a:latin typeface="DM Sans 14pt" pitchFamily="2" charset="77"/>
              </a:rPr>
              <a:t>Maria Briones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accent1">
                    <a:lumMod val="75000"/>
                  </a:schemeClr>
                </a:solidFill>
                <a:latin typeface="DM Sans 14pt" pitchFamily="2" charset="77"/>
              </a:rPr>
              <a:t>Riccardo Dondi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accent1">
                    <a:lumMod val="75000"/>
                  </a:schemeClr>
                </a:solidFill>
                <a:latin typeface="DM Sans 14pt" pitchFamily="2" charset="77"/>
              </a:rPr>
              <a:t>Sayantan Mandal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B0D1C4-025A-C22D-D52B-CC8DBAA581EC}"/>
              </a:ext>
            </a:extLst>
          </p:cNvPr>
          <p:cNvSpPr txBox="1"/>
          <p:nvPr/>
        </p:nvSpPr>
        <p:spPr>
          <a:xfrm>
            <a:off x="5513729" y="167593"/>
            <a:ext cx="26805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1200" b="1" dirty="0">
                <a:solidFill>
                  <a:schemeClr val="accent3"/>
                </a:solidFill>
                <a:latin typeface="Baloo 2 ExtraBold" pitchFamily="2" charset="77"/>
                <a:cs typeface="Baloo 2 ExtraBold" pitchFamily="2" charset="77"/>
              </a:rPr>
              <a:t>Data Management and Warehousing</a:t>
            </a:r>
            <a:endParaRPr lang="en-IT" sz="1200" b="1" dirty="0">
              <a:solidFill>
                <a:schemeClr val="accent3"/>
              </a:solidFill>
              <a:latin typeface="Baloo 2 ExtraBold" pitchFamily="2" charset="77"/>
              <a:cs typeface="Baloo 2 ExtraBold" pitchFamily="2" charset="77"/>
            </a:endParaRPr>
          </a:p>
        </p:txBody>
      </p:sp>
      <p:sp>
        <p:nvSpPr>
          <p:cNvPr id="5" name="AutoShape 2" descr="Imagen generada">
            <a:extLst>
              <a:ext uri="{FF2B5EF4-FFF2-40B4-BE49-F238E27FC236}">
                <a16:creationId xmlns:a16="http://schemas.microsoft.com/office/drawing/2014/main" id="{19E07B12-D6D2-EEA5-2D8F-CD68C26387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51968" y="276842"/>
            <a:ext cx="771525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E575DFA-195C-06EC-09FA-3A6C58109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688" y="778704"/>
            <a:ext cx="5367134" cy="35780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A5CBCE-048A-4A86-960C-94F40F6136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987" y="543249"/>
            <a:ext cx="2351961" cy="13601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>
          <a:extLst>
            <a:ext uri="{FF2B5EF4-FFF2-40B4-BE49-F238E27FC236}">
              <a16:creationId xmlns:a16="http://schemas.microsoft.com/office/drawing/2014/main" id="{90C204FA-2DC5-418E-D6FF-B6608AA8A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28">
            <a:extLst>
              <a:ext uri="{FF2B5EF4-FFF2-40B4-BE49-F238E27FC236}">
                <a16:creationId xmlns:a16="http://schemas.microsoft.com/office/drawing/2014/main" id="{0AFE6C34-C003-EAAE-34C5-FDDA68F4E6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4" name="Subtitle 7">
            <a:extLst>
              <a:ext uri="{FF2B5EF4-FFF2-40B4-BE49-F238E27FC236}">
                <a16:creationId xmlns:a16="http://schemas.microsoft.com/office/drawing/2014/main" id="{AAD19A4F-5903-30EA-ED65-8DC3E6A52C62}"/>
              </a:ext>
            </a:extLst>
          </p:cNvPr>
          <p:cNvSpPr txBox="1">
            <a:spLocks/>
          </p:cNvSpPr>
          <p:nvPr/>
        </p:nvSpPr>
        <p:spPr>
          <a:xfrm>
            <a:off x="720000" y="1222284"/>
            <a:ext cx="3910057" cy="2753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rgbClr val="201338"/>
                </a:solidFill>
                <a:latin typeface="DM Sans 14pt"/>
                <a:ea typeface="DM Sans 14pt"/>
                <a:cs typeface="DM Sans 14pt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it-IT" altLang="en-US" sz="1600" dirty="0">
              <a:latin typeface="DM Sans 14pt" pitchFamily="2" charset="77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altLang="en-US" sz="1600" dirty="0">
                <a:solidFill>
                  <a:schemeClr val="tx2"/>
                </a:solidFill>
                <a:latin typeface="DM Sans 14pt" pitchFamily="2" charset="77"/>
                <a:cs typeface="Arial" panose="020B0604020202020204" pitchFamily="34" charset="0"/>
              </a:rPr>
              <a:t>ER-Diagram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altLang="en-US" sz="1600" dirty="0">
                <a:solidFill>
                  <a:schemeClr val="tx2"/>
                </a:solidFill>
                <a:latin typeface="DM Sans 14pt" pitchFamily="2" charset="77"/>
                <a:cs typeface="Arial" panose="020B0604020202020204" pitchFamily="34" charset="0"/>
              </a:rPr>
              <a:t>Logical Schema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altLang="en-US" sz="1600" dirty="0">
                <a:solidFill>
                  <a:schemeClr val="tx2"/>
                </a:solidFill>
                <a:latin typeface="DM Sans 14pt" pitchFamily="2" charset="77"/>
                <a:cs typeface="Arial" panose="020B0604020202020204" pitchFamily="34" charset="0"/>
              </a:rPr>
              <a:t>DDL constraints</a:t>
            </a:r>
            <a:endParaRPr lang="it-IT" altLang="en-US" sz="1600" dirty="0">
              <a:latin typeface="DM Sans 14pt" pitchFamily="2" charset="77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altLang="en-US" sz="1600" dirty="0">
              <a:latin typeface="DM Sans 14pt" pitchFamily="2" charset="77"/>
              <a:cs typeface="Arial" panose="020B0604020202020204" pitchFamily="34" charset="0"/>
            </a:endParaRPr>
          </a:p>
        </p:txBody>
      </p:sp>
      <p:sp>
        <p:nvSpPr>
          <p:cNvPr id="5" name="Subtitle 7">
            <a:extLst>
              <a:ext uri="{FF2B5EF4-FFF2-40B4-BE49-F238E27FC236}">
                <a16:creationId xmlns:a16="http://schemas.microsoft.com/office/drawing/2014/main" id="{8803F14B-ECDA-FF42-78B4-85BAADA6550C}"/>
              </a:ext>
            </a:extLst>
          </p:cNvPr>
          <p:cNvSpPr txBox="1">
            <a:spLocks/>
          </p:cNvSpPr>
          <p:nvPr/>
        </p:nvSpPr>
        <p:spPr>
          <a:xfrm>
            <a:off x="4513943" y="1238338"/>
            <a:ext cx="3910057" cy="2979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rgbClr val="201338"/>
                </a:solidFill>
                <a:latin typeface="DM Sans 14pt"/>
                <a:ea typeface="DM Sans 14pt"/>
                <a:cs typeface="DM Sans 14pt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9pPr>
          </a:lstStyle>
          <a:p>
            <a:pPr marL="0" indent="0">
              <a:buNone/>
            </a:pPr>
            <a:r>
              <a:rPr lang="it-IT" altLang="en-US" sz="1600" dirty="0">
                <a:solidFill>
                  <a:schemeClr val="tx2"/>
                </a:solidFill>
                <a:latin typeface="DM Sans 14pt" pitchFamily="2" charset="77"/>
                <a:cs typeface="Arial" panose="020B0604020202020204" pitchFamily="34" charset="0"/>
              </a:rPr>
              <a:t> </a:t>
            </a:r>
            <a:endParaRPr lang="it-IT" altLang="en-US" sz="1600" dirty="0">
              <a:latin typeface="DM Sans 14pt" pitchFamily="2" charset="77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altLang="en-US" sz="1600" dirty="0">
                <a:solidFill>
                  <a:schemeClr val="tx2"/>
                </a:solidFill>
                <a:latin typeface="DM Sans 14pt" pitchFamily="2" charset="77"/>
                <a:cs typeface="Arial" panose="020B0604020202020204" pitchFamily="34" charset="0"/>
              </a:rPr>
              <a:t>DML Data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altLang="en-US" sz="1600" dirty="0">
                <a:solidFill>
                  <a:schemeClr val="tx2"/>
                </a:solidFill>
                <a:latin typeface="DM Sans 14pt" pitchFamily="2" charset="77"/>
                <a:cs typeface="Arial" panose="020B0604020202020204" pitchFamily="34" charset="0"/>
              </a:rPr>
              <a:t>Checking Data consistency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altLang="en-US" sz="1600" dirty="0">
              <a:latin typeface="DM Sans 14pt" pitchFamily="2" charset="77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altLang="en-US" sz="1600" dirty="0">
              <a:latin typeface="DM Sans 14pt" pitchFamily="2" charset="77"/>
              <a:cs typeface="Arial" panose="020B0604020202020204" pitchFamily="34" charset="0"/>
            </a:endParaRPr>
          </a:p>
        </p:txBody>
      </p:sp>
      <p:sp>
        <p:nvSpPr>
          <p:cNvPr id="9" name="Google Shape;760;p29">
            <a:extLst>
              <a:ext uri="{FF2B5EF4-FFF2-40B4-BE49-F238E27FC236}">
                <a16:creationId xmlns:a16="http://schemas.microsoft.com/office/drawing/2014/main" id="{B10F433B-672A-2526-6C86-06241EF49919}"/>
              </a:ext>
            </a:extLst>
          </p:cNvPr>
          <p:cNvSpPr txBox="1">
            <a:spLocks/>
          </p:cNvSpPr>
          <p:nvPr/>
        </p:nvSpPr>
        <p:spPr>
          <a:xfrm>
            <a:off x="667372" y="1215799"/>
            <a:ext cx="2482227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400" b="1" dirty="0">
                <a:solidFill>
                  <a:schemeClr val="tx2"/>
                </a:solidFill>
                <a:latin typeface="Baloo 2 ExtraBold" pitchFamily="2" charset="77"/>
                <a:cs typeface="Baloo 2 ExtraBold" pitchFamily="2" charset="77"/>
              </a:rPr>
              <a:t>01   OUR IDEA</a:t>
            </a:r>
            <a:endParaRPr lang="en" b="1" dirty="0">
              <a:solidFill>
                <a:schemeClr val="tx2"/>
              </a:solidFill>
              <a:latin typeface="Baloo 2 ExtraBold" pitchFamily="2" charset="77"/>
              <a:cs typeface="Baloo 2 ExtraBold" pitchFamily="2" charset="77"/>
            </a:endParaRPr>
          </a:p>
        </p:txBody>
      </p:sp>
      <p:sp>
        <p:nvSpPr>
          <p:cNvPr id="2" name="Google Shape;760;p29">
            <a:extLst>
              <a:ext uri="{FF2B5EF4-FFF2-40B4-BE49-F238E27FC236}">
                <a16:creationId xmlns:a16="http://schemas.microsoft.com/office/drawing/2014/main" id="{DE948548-E16F-64F3-A6EB-0652967B627F}"/>
              </a:ext>
            </a:extLst>
          </p:cNvPr>
          <p:cNvSpPr txBox="1">
            <a:spLocks/>
          </p:cNvSpPr>
          <p:nvPr/>
        </p:nvSpPr>
        <p:spPr>
          <a:xfrm>
            <a:off x="4513942" y="1231853"/>
            <a:ext cx="3431177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400" b="1" dirty="0">
                <a:solidFill>
                  <a:schemeClr val="tx2"/>
                </a:solidFill>
                <a:latin typeface="Baloo 2 ExtraBold" pitchFamily="2" charset="77"/>
                <a:cs typeface="Baloo 2 ExtraBold" pitchFamily="2" charset="77"/>
              </a:rPr>
              <a:t>02 The Data </a:t>
            </a:r>
            <a:endParaRPr lang="en" b="1" dirty="0">
              <a:solidFill>
                <a:schemeClr val="tx2"/>
              </a:solidFill>
              <a:latin typeface="Baloo 2 ExtraBold" pitchFamily="2" charset="77"/>
              <a:cs typeface="Baloo 2 ExtraBold" pitchFamily="2" charset="77"/>
            </a:endParaRPr>
          </a:p>
        </p:txBody>
      </p:sp>
      <p:sp>
        <p:nvSpPr>
          <p:cNvPr id="3" name="Subtitle 7">
            <a:extLst>
              <a:ext uri="{FF2B5EF4-FFF2-40B4-BE49-F238E27FC236}">
                <a16:creationId xmlns:a16="http://schemas.microsoft.com/office/drawing/2014/main" id="{561F9A2F-F4F7-DF01-5754-98B9FD7D9236}"/>
              </a:ext>
            </a:extLst>
          </p:cNvPr>
          <p:cNvSpPr txBox="1">
            <a:spLocks/>
          </p:cNvSpPr>
          <p:nvPr/>
        </p:nvSpPr>
        <p:spPr>
          <a:xfrm>
            <a:off x="3233783" y="3022933"/>
            <a:ext cx="3910057" cy="2979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rgbClr val="201338"/>
                </a:solidFill>
                <a:latin typeface="DM Sans 14pt"/>
                <a:ea typeface="DM Sans 14pt"/>
                <a:cs typeface="DM Sans 14pt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9pPr>
          </a:lstStyle>
          <a:p>
            <a:pPr marL="0" indent="0">
              <a:buNone/>
            </a:pPr>
            <a:r>
              <a:rPr lang="it-IT" altLang="en-US" sz="1600" dirty="0">
                <a:solidFill>
                  <a:schemeClr val="tx2"/>
                </a:solidFill>
                <a:latin typeface="DM Sans 14pt" pitchFamily="2" charset="77"/>
                <a:cs typeface="Arial" panose="020B0604020202020204" pitchFamily="34" charset="0"/>
              </a:rPr>
              <a:t> </a:t>
            </a:r>
            <a:endParaRPr lang="it-IT" altLang="en-US" sz="1600" dirty="0">
              <a:latin typeface="DM Sans 14pt" pitchFamily="2" charset="77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altLang="en-US" sz="1600" dirty="0">
                <a:solidFill>
                  <a:schemeClr val="tx2"/>
                </a:solidFill>
                <a:latin typeface="DM Sans 14pt" pitchFamily="2" charset="77"/>
                <a:cs typeface="Arial" panose="020B0604020202020204" pitchFamily="34" charset="0"/>
              </a:rPr>
              <a:t>Station Popularity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altLang="en-US" sz="1600" dirty="0">
                <a:solidFill>
                  <a:schemeClr val="tx2"/>
                </a:solidFill>
                <a:latin typeface="DM Sans 14pt" pitchFamily="2" charset="77"/>
                <a:cs typeface="Arial" panose="020B0604020202020204" pitchFamily="34" charset="0"/>
              </a:rPr>
              <a:t>Revenue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altLang="en-US" sz="1600" dirty="0">
                <a:solidFill>
                  <a:schemeClr val="tx2"/>
                </a:solidFill>
                <a:latin typeface="DM Sans 14pt" pitchFamily="2" charset="77"/>
                <a:cs typeface="Arial" panose="020B0604020202020204" pitchFamily="34" charset="0"/>
              </a:rPr>
              <a:t>Maintenance Alert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altLang="en-US" sz="1600" dirty="0">
                <a:solidFill>
                  <a:schemeClr val="tx2"/>
                </a:solidFill>
                <a:latin typeface="DM Sans 14pt" pitchFamily="2" charset="77"/>
                <a:cs typeface="Arial" panose="020B0604020202020204" pitchFamily="34" charset="0"/>
              </a:rPr>
              <a:t>User Behavior: ridden distance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altLang="en-US" sz="1600" dirty="0">
              <a:latin typeface="DM Sans 14pt" pitchFamily="2" charset="77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altLang="en-US" sz="1600" dirty="0">
              <a:latin typeface="DM Sans 14pt" pitchFamily="2" charset="77"/>
              <a:cs typeface="Arial" panose="020B0604020202020204" pitchFamily="34" charset="0"/>
            </a:endParaRPr>
          </a:p>
        </p:txBody>
      </p:sp>
      <p:sp>
        <p:nvSpPr>
          <p:cNvPr id="6" name="Google Shape;760;p29">
            <a:extLst>
              <a:ext uri="{FF2B5EF4-FFF2-40B4-BE49-F238E27FC236}">
                <a16:creationId xmlns:a16="http://schemas.microsoft.com/office/drawing/2014/main" id="{51B822C0-D2ED-52FF-D502-BF9CA24316F5}"/>
              </a:ext>
            </a:extLst>
          </p:cNvPr>
          <p:cNvSpPr txBox="1">
            <a:spLocks/>
          </p:cNvSpPr>
          <p:nvPr/>
        </p:nvSpPr>
        <p:spPr>
          <a:xfrm>
            <a:off x="3233782" y="3016448"/>
            <a:ext cx="3431177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400" b="1" dirty="0">
                <a:solidFill>
                  <a:schemeClr val="tx2"/>
                </a:solidFill>
                <a:latin typeface="Baloo 2 ExtraBold" pitchFamily="2" charset="77"/>
                <a:cs typeface="Baloo 2 ExtraBold" pitchFamily="2" charset="77"/>
              </a:rPr>
              <a:t>03 Insights</a:t>
            </a:r>
            <a:endParaRPr lang="en" b="1" dirty="0">
              <a:solidFill>
                <a:schemeClr val="tx2"/>
              </a:solidFill>
              <a:latin typeface="Baloo 2 ExtraBold" pitchFamily="2" charset="77"/>
              <a:cs typeface="Baloo 2 Extra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30179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>
          <a:extLst>
            <a:ext uri="{FF2B5EF4-FFF2-40B4-BE49-F238E27FC236}">
              <a16:creationId xmlns:a16="http://schemas.microsoft.com/office/drawing/2014/main" id="{703B4E69-CF5B-D153-38CF-F97B7AAA7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28">
            <a:extLst>
              <a:ext uri="{FF2B5EF4-FFF2-40B4-BE49-F238E27FC236}">
                <a16:creationId xmlns:a16="http://schemas.microsoft.com/office/drawing/2014/main" id="{98D1E762-9786-7D2E-4B88-C34FB2F096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Repository</a:t>
            </a:r>
            <a:endParaRPr dirty="0"/>
          </a:p>
        </p:txBody>
      </p:sp>
      <p:sp>
        <p:nvSpPr>
          <p:cNvPr id="4" name="Subtitle 7">
            <a:extLst>
              <a:ext uri="{FF2B5EF4-FFF2-40B4-BE49-F238E27FC236}">
                <a16:creationId xmlns:a16="http://schemas.microsoft.com/office/drawing/2014/main" id="{37FEA041-4316-3876-D6D4-1E36D8DAA12D}"/>
              </a:ext>
            </a:extLst>
          </p:cNvPr>
          <p:cNvSpPr txBox="1">
            <a:spLocks/>
          </p:cNvSpPr>
          <p:nvPr/>
        </p:nvSpPr>
        <p:spPr>
          <a:xfrm>
            <a:off x="434340" y="1507627"/>
            <a:ext cx="7989660" cy="45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rgbClr val="201338"/>
                </a:solidFill>
                <a:latin typeface="DM Sans 14pt"/>
                <a:ea typeface="DM Sans 14pt"/>
                <a:cs typeface="DM Sans 14pt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9pPr>
          </a:lstStyle>
          <a:p>
            <a:pPr marL="457200" lvl="1" indent="0" algn="ctr">
              <a:buNone/>
            </a:pPr>
            <a:r>
              <a:rPr lang="it-IT" altLang="en-US" sz="2000" dirty="0">
                <a:solidFill>
                  <a:schemeClr val="tx2"/>
                </a:solidFill>
                <a:latin typeface="DM Sans 14pt" pitchFamily="2" charset="77"/>
                <a:cs typeface="Arial" panose="020B0604020202020204" pitchFamily="34" charset="0"/>
              </a:rPr>
              <a:t>Code Scripts for DDL, population DML and Queries DML can be found on github!</a:t>
            </a:r>
          </a:p>
        </p:txBody>
      </p:sp>
      <p:sp>
        <p:nvSpPr>
          <p:cNvPr id="7" name="Google Shape;760;p29">
            <a:extLst>
              <a:ext uri="{FF2B5EF4-FFF2-40B4-BE49-F238E27FC236}">
                <a16:creationId xmlns:a16="http://schemas.microsoft.com/office/drawing/2014/main" id="{26FCF043-8704-9288-902B-96D5C4721E72}"/>
              </a:ext>
            </a:extLst>
          </p:cNvPr>
          <p:cNvSpPr txBox="1">
            <a:spLocks/>
          </p:cNvSpPr>
          <p:nvPr/>
        </p:nvSpPr>
        <p:spPr>
          <a:xfrm>
            <a:off x="720000" y="2737561"/>
            <a:ext cx="77040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CL" sz="2400" b="1" dirty="0">
                <a:solidFill>
                  <a:schemeClr val="tx2"/>
                </a:solidFill>
                <a:latin typeface="Baloo 2 ExtraBold" pitchFamily="2" charset="77"/>
                <a:cs typeface="Baloo 2 ExtraBold" pitchFamily="2" charset="77"/>
                <a:hlinkClick r:id="rId3"/>
              </a:rPr>
              <a:t>github.com/mbrionesr96/SuperBikes</a:t>
            </a:r>
            <a:endParaRPr lang="en" b="1" dirty="0">
              <a:solidFill>
                <a:schemeClr val="tx2"/>
              </a:solidFill>
              <a:latin typeface="Baloo 2 ExtraBold" pitchFamily="2" charset="77"/>
              <a:cs typeface="Baloo 2 Extra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0072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9">
          <a:extLst>
            <a:ext uri="{FF2B5EF4-FFF2-40B4-BE49-F238E27FC236}">
              <a16:creationId xmlns:a16="http://schemas.microsoft.com/office/drawing/2014/main" id="{7547E54E-8782-A185-75C5-704534643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37">
            <a:extLst>
              <a:ext uri="{FF2B5EF4-FFF2-40B4-BE49-F238E27FC236}">
                <a16:creationId xmlns:a16="http://schemas.microsoft.com/office/drawing/2014/main" id="{62FA374F-2D70-57E0-05C3-77A9BD58DA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21675" y="3090672"/>
            <a:ext cx="3128100" cy="8389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4800" dirty="0"/>
            </a:br>
            <a:r>
              <a:rPr lang="en" sz="4000" dirty="0">
                <a:solidFill>
                  <a:schemeClr val="tx1"/>
                </a:solidFill>
              </a:rPr>
              <a:t>Our Idea</a:t>
            </a:r>
            <a:endParaRPr sz="4800" dirty="0">
              <a:solidFill>
                <a:schemeClr val="tx1"/>
              </a:solidFill>
            </a:endParaRPr>
          </a:p>
        </p:txBody>
      </p:sp>
      <p:sp>
        <p:nvSpPr>
          <p:cNvPr id="2" name="Google Shape;1080;p37">
            <a:extLst>
              <a:ext uri="{FF2B5EF4-FFF2-40B4-BE49-F238E27FC236}">
                <a16:creationId xmlns:a16="http://schemas.microsoft.com/office/drawing/2014/main" id="{13530D07-2251-9A74-1C1C-283E7CBD7033}"/>
              </a:ext>
            </a:extLst>
          </p:cNvPr>
          <p:cNvSpPr txBox="1">
            <a:spLocks/>
          </p:cNvSpPr>
          <p:nvPr/>
        </p:nvSpPr>
        <p:spPr>
          <a:xfrm>
            <a:off x="4921675" y="3589048"/>
            <a:ext cx="3128100" cy="681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6000" b="0" i="0" u="none" strike="noStrike" cap="none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96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96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96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96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96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96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96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96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br>
              <a:rPr lang="es-CL" sz="4800" dirty="0"/>
            </a:br>
            <a:r>
              <a:rPr lang="es-CL" sz="2400" dirty="0">
                <a:solidFill>
                  <a:schemeClr val="bg1"/>
                </a:solidFill>
              </a:rPr>
              <a:t>Data </a:t>
            </a:r>
            <a:r>
              <a:rPr lang="en-IN" sz="2400" dirty="0"/>
              <a:t>structure</a:t>
            </a:r>
            <a:endParaRPr lang="es-CL" sz="4800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63EC206-90B5-BE3F-78EF-5D1D031561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083" t="28386" r="47809" b="15407"/>
          <a:stretch>
            <a:fillRect/>
          </a:stretch>
        </p:blipFill>
        <p:spPr>
          <a:xfrm>
            <a:off x="0" y="821209"/>
            <a:ext cx="3467100" cy="35010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207CB3-6D31-2334-9656-5DA3021AD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76425"/>
            <a:ext cx="2888742" cy="197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080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2">
          <a:extLst>
            <a:ext uri="{FF2B5EF4-FFF2-40B4-BE49-F238E27FC236}">
              <a16:creationId xmlns:a16="http://schemas.microsoft.com/office/drawing/2014/main" id="{80C34383-E3E1-6109-0E57-AB9A08AAC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44">
            <a:extLst>
              <a:ext uri="{FF2B5EF4-FFF2-40B4-BE49-F238E27FC236}">
                <a16:creationId xmlns:a16="http://schemas.microsoft.com/office/drawing/2014/main" id="{1B384694-506D-B749-3A88-0745AB6CC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dirty="0"/>
              <a:t>What data structure solves the issue?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9F3500F-B0A0-C72E-D8F0-5CF61B432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56" y="1017725"/>
            <a:ext cx="7104744" cy="340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838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2">
          <a:extLst>
            <a:ext uri="{FF2B5EF4-FFF2-40B4-BE49-F238E27FC236}">
              <a16:creationId xmlns:a16="http://schemas.microsoft.com/office/drawing/2014/main" id="{3F5F23B6-0521-35C3-0064-971FD52E4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44">
            <a:extLst>
              <a:ext uri="{FF2B5EF4-FFF2-40B4-BE49-F238E27FC236}">
                <a16:creationId xmlns:a16="http://schemas.microsoft.com/office/drawing/2014/main" id="{8439404C-815F-4496-60FE-017A5E97D7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dirty="0"/>
              <a:t>What data structure solves the issue?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24E2861-F705-8506-DD0B-675DD427BC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69" t="5812" r="24314" b="15204"/>
          <a:stretch>
            <a:fillRect/>
          </a:stretch>
        </p:blipFill>
        <p:spPr>
          <a:xfrm>
            <a:off x="1658257" y="865928"/>
            <a:ext cx="5827486" cy="383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351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>
          <a:extLst>
            <a:ext uri="{FF2B5EF4-FFF2-40B4-BE49-F238E27FC236}">
              <a16:creationId xmlns:a16="http://schemas.microsoft.com/office/drawing/2014/main" id="{114132A3-EE29-883F-8237-D65060FF0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C37E5FD5-C46A-87A0-822A-2FBB684366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GB" sz="2800" b="1" dirty="0">
                <a:latin typeface="DM Sans" pitchFamily="2" charset="77"/>
              </a:rPr>
              <a:t>Relevant constraints</a:t>
            </a:r>
            <a:endParaRPr lang="en-GB" sz="27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940BD21-D407-9C39-3525-16599CB42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14398D6-7C4E-9D72-B12E-CA1AB4BFA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24" y="10177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u="sng" dirty="0">
                <a:latin typeface="DM Sans" pitchFamily="2" charset="77"/>
              </a:rPr>
              <a:t>Regarding Battery %: </a:t>
            </a:r>
          </a:p>
          <a:p>
            <a:pPr marL="342900" indent="-342900">
              <a:buFont typeface="+mj-lt"/>
              <a:buAutoNum type="arabicPeriod"/>
            </a:pPr>
            <a:endParaRPr lang="en-GB" b="1" dirty="0">
              <a:latin typeface="DM Sans" pitchFamily="2" charset="77"/>
            </a:endParaRPr>
          </a:p>
          <a:p>
            <a:pPr marL="598488" lvl="8" indent="-228600">
              <a:buFont typeface="Arial" panose="020B0604020202020204" pitchFamily="34" charset="0"/>
              <a:buChar char="•"/>
            </a:pPr>
            <a:r>
              <a:rPr lang="en-GB" sz="1200" dirty="0">
                <a:latin typeface="DM Sans" pitchFamily="2" charset="77"/>
              </a:rPr>
              <a:t>If bike type is electric then Battery must be between 0 and 100</a:t>
            </a:r>
          </a:p>
          <a:p>
            <a:pPr marL="598488" lvl="8" indent="-228600">
              <a:buFont typeface="Arial" panose="020B0604020202020204" pitchFamily="34" charset="0"/>
              <a:buChar char="•"/>
            </a:pPr>
            <a:r>
              <a:rPr lang="en-GB" sz="1200" dirty="0">
                <a:latin typeface="DM Sans" pitchFamily="2" charset="77"/>
              </a:rPr>
              <a:t>If bike type is manual the Battery must be NULL.</a:t>
            </a:r>
          </a:p>
          <a:p>
            <a:pPr marL="584200" lvl="8" indent="-228600">
              <a:buFont typeface="+mj-lt"/>
              <a:buAutoNum type="arabicPeriod"/>
            </a:pPr>
            <a:endParaRPr lang="en-GB" sz="1200" dirty="0">
              <a:latin typeface="DM Sans" pitchFamily="2" charset="77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u="sng" dirty="0"/>
              <a:t>Key Design Principles Applied</a:t>
            </a:r>
          </a:p>
          <a:p>
            <a:endParaRPr lang="en-IN" b="1" u="sng" dirty="0"/>
          </a:p>
          <a:p>
            <a:pPr marL="541338" lvl="8" indent="-171450">
              <a:buFont typeface="Arial" panose="020B0604020202020204" pitchFamily="34" charset="0"/>
              <a:buChar char="•"/>
            </a:pPr>
            <a:r>
              <a:rPr lang="en-GB" sz="1200" b="1" dirty="0">
                <a:latin typeface="DM Sans" pitchFamily="2" charset="77"/>
              </a:rPr>
              <a:t>SET NULL </a:t>
            </a:r>
            <a:r>
              <a:rPr lang="en-GB" sz="1200" dirty="0">
                <a:latin typeface="DM Sans" pitchFamily="2" charset="77"/>
              </a:rPr>
              <a:t>is used on rides for all its FKs because rides are the core financial and operational record of the system — they should survive the deletion of any related entity.</a:t>
            </a:r>
          </a:p>
          <a:p>
            <a:pPr marL="541338" lvl="8" indent="-171450">
              <a:buFont typeface="Arial" panose="020B0604020202020204" pitchFamily="34" charset="0"/>
              <a:buChar char="•"/>
            </a:pPr>
            <a:r>
              <a:rPr lang="en-GB" sz="1200" b="1" dirty="0">
                <a:latin typeface="DM Sans" pitchFamily="2" charset="77"/>
              </a:rPr>
              <a:t>CASCADE </a:t>
            </a:r>
            <a:r>
              <a:rPr lang="en-GB" sz="1200" dirty="0">
                <a:latin typeface="DM Sans" pitchFamily="2" charset="77"/>
              </a:rPr>
              <a:t>is used where the child record is existentially dependent on the parent — a payment without a ride, or a maintenance log without a bike, is meaningless.</a:t>
            </a:r>
          </a:p>
          <a:p>
            <a:pPr marL="369888" lvl="8"/>
            <a:endParaRPr lang="en-GB" sz="1200" dirty="0">
              <a:latin typeface="DM Sans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B99F96-55F2-0895-E16B-E1047A596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646" y="3276408"/>
            <a:ext cx="3278607" cy="169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72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>
          <a:extLst>
            <a:ext uri="{FF2B5EF4-FFF2-40B4-BE49-F238E27FC236}">
              <a16:creationId xmlns:a16="http://schemas.microsoft.com/office/drawing/2014/main" id="{CCFFB716-86F0-01C5-864E-73DE9B48E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1">
            <a:extLst>
              <a:ext uri="{FF2B5EF4-FFF2-40B4-BE49-F238E27FC236}">
                <a16:creationId xmlns:a16="http://schemas.microsoft.com/office/drawing/2014/main" id="{4972B962-A89F-AC3C-6EF1-B062EF2943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315" y="797700"/>
            <a:ext cx="4559700" cy="130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data</a:t>
            </a:r>
            <a:endParaRPr dirty="0"/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6EE5CC1C-F3C2-8E1F-5D7B-5AB3F45D01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980" y="4574564"/>
            <a:ext cx="408556" cy="40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1080;p37">
            <a:extLst>
              <a:ext uri="{FF2B5EF4-FFF2-40B4-BE49-F238E27FC236}">
                <a16:creationId xmlns:a16="http://schemas.microsoft.com/office/drawing/2014/main" id="{D1872473-1C8B-5237-2266-593F60CDD16F}"/>
              </a:ext>
            </a:extLst>
          </p:cNvPr>
          <p:cNvSpPr txBox="1">
            <a:spLocks/>
          </p:cNvSpPr>
          <p:nvPr/>
        </p:nvSpPr>
        <p:spPr>
          <a:xfrm>
            <a:off x="1219315" y="1436447"/>
            <a:ext cx="3128100" cy="10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6000" b="0" i="0" u="none" strike="noStrike" cap="none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96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96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96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96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96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96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96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96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br>
              <a:rPr lang="es-CL" sz="4800" dirty="0"/>
            </a:br>
            <a:r>
              <a:rPr lang="es-CL" sz="2400" dirty="0">
                <a:solidFill>
                  <a:schemeClr val="bg1"/>
                </a:solidFill>
              </a:rPr>
              <a:t>Data </a:t>
            </a:r>
            <a:r>
              <a:rPr lang="es-CL" sz="2400" dirty="0" err="1">
                <a:solidFill>
                  <a:schemeClr val="bg1"/>
                </a:solidFill>
              </a:rPr>
              <a:t>Population</a:t>
            </a:r>
            <a:endParaRPr lang="es-CL" sz="4800" dirty="0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4F7890E-939C-E098-BBCF-F6DDE71D80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679" t="25333" b="22963"/>
          <a:stretch>
            <a:fillRect/>
          </a:stretch>
        </p:blipFill>
        <p:spPr>
          <a:xfrm>
            <a:off x="4168140" y="1211147"/>
            <a:ext cx="4005482" cy="285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96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>
          <a:extLst>
            <a:ext uri="{FF2B5EF4-FFF2-40B4-BE49-F238E27FC236}">
              <a16:creationId xmlns:a16="http://schemas.microsoft.com/office/drawing/2014/main" id="{9AB63359-FA9A-9471-6067-639F5D7EF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3DA3585B-9FC8-69CC-5811-B0C67CD11D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GB" sz="2800" b="1" dirty="0">
                <a:latin typeface="DM Sans" pitchFamily="2" charset="77"/>
              </a:rPr>
              <a:t>Tables and dimensions</a:t>
            </a:r>
            <a:endParaRPr lang="en-GB" sz="27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9369A82-C1D2-6120-C6F9-CE668738E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B871425-BF66-CBF9-2733-64FDDEA22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24" y="10177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171450" indent="-171450">
              <a:buFontTx/>
              <a:buChar char="-"/>
            </a:pPr>
            <a:r>
              <a:rPr lang="en-GB" sz="1200" dirty="0">
                <a:latin typeface="DM Sans" pitchFamily="2" charset="77"/>
              </a:rPr>
              <a:t>Users (20 users, 1 PK, 4 features)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5971813-18AC-523F-7E45-B99AAA9DE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163" y="1281460"/>
            <a:ext cx="7178040" cy="345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424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>
          <a:extLst>
            <a:ext uri="{FF2B5EF4-FFF2-40B4-BE49-F238E27FC236}">
              <a16:creationId xmlns:a16="http://schemas.microsoft.com/office/drawing/2014/main" id="{03793D23-9CE3-C5BD-1601-A2C7F5211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B6ACB397-DD69-DB67-2283-7017BF88F6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GB" sz="2800" b="1" dirty="0">
                <a:latin typeface="DM Sans" pitchFamily="2" charset="77"/>
              </a:rPr>
              <a:t>Tables and dimensions</a:t>
            </a:r>
            <a:endParaRPr lang="en-GB" sz="27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2548153-0AC2-3401-E2CB-EDA934442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4799159-A3F5-7E2F-3D58-AF8BDF0F8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24" y="10177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171450" indent="-171450">
              <a:buFontTx/>
              <a:buChar char="-"/>
            </a:pPr>
            <a:r>
              <a:rPr lang="en-GB" sz="1200" dirty="0">
                <a:latin typeface="DM Sans" pitchFamily="2" charset="77"/>
              </a:rPr>
              <a:t>Stations (15 stations, 1PK, 2 features)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B84F3F3-4E15-1A8F-9D53-A824180D5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502" y="1330300"/>
            <a:ext cx="4500978" cy="346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405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>
          <a:extLst>
            <a:ext uri="{FF2B5EF4-FFF2-40B4-BE49-F238E27FC236}">
              <a16:creationId xmlns:a16="http://schemas.microsoft.com/office/drawing/2014/main" id="{07733884-5483-2FE7-C7C0-F112B521A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785CCB19-0660-B92F-4ED3-C210A8BA89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GB" sz="2800" b="1" dirty="0">
                <a:latin typeface="DM Sans" pitchFamily="2" charset="77"/>
              </a:rPr>
              <a:t>Tables and dimensions</a:t>
            </a:r>
            <a:endParaRPr lang="en-GB" sz="27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BEBDEBB-DC9F-A094-3B3C-E24814B25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56EC260-9EA8-1B83-74CE-4B5AADC65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24" y="10177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171450" indent="-171450">
              <a:buFontTx/>
              <a:buChar char="-"/>
            </a:pPr>
            <a:r>
              <a:rPr lang="en-GB" sz="1200" dirty="0">
                <a:latin typeface="DM Sans" pitchFamily="2" charset="77"/>
              </a:rPr>
              <a:t>Bikes (66 bikes, 1PK, 4 features, 1 FK)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04805C9-A70A-4B12-B538-7E5E3FF37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693" y="1306356"/>
            <a:ext cx="6216513" cy="316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490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>
          <a:extLst>
            <a:ext uri="{FF2B5EF4-FFF2-40B4-BE49-F238E27FC236}">
              <a16:creationId xmlns:a16="http://schemas.microsoft.com/office/drawing/2014/main" id="{864F275A-95C2-090C-3702-B299DC38A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AA3C821F-B0EA-192B-AD14-4FA046941B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GB" sz="2800" b="1" dirty="0">
                <a:latin typeface="DM Sans" pitchFamily="2" charset="77"/>
              </a:rPr>
              <a:t>Tables and dimensions</a:t>
            </a:r>
            <a:endParaRPr lang="en-GB" sz="27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F42118D-5950-448B-6D06-EF9112F59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7A6527D-F568-CE81-AF04-136E46978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24" y="10177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171450" indent="-171450">
              <a:buFontTx/>
              <a:buChar char="-"/>
            </a:pPr>
            <a:r>
              <a:rPr lang="en-GB" sz="1200" dirty="0">
                <a:latin typeface="DM Sans" pitchFamily="2" charset="77"/>
              </a:rPr>
              <a:t>Rides (94 rides, 1PK, 9 features, 4FK)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F0AFD90-C66B-EDCA-2506-E8458376B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42" y="1410576"/>
            <a:ext cx="8191057" cy="285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467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>
          <a:extLst>
            <a:ext uri="{FF2B5EF4-FFF2-40B4-BE49-F238E27FC236}">
              <a16:creationId xmlns:a16="http://schemas.microsoft.com/office/drawing/2014/main" id="{6EB0CC35-4BDC-6A5B-E52D-B644E735C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4D1046FD-2075-342E-8A82-2DBDC8224E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GB" sz="2800" b="1" dirty="0">
                <a:latin typeface="DM Sans" pitchFamily="2" charset="77"/>
              </a:rPr>
              <a:t>Tables and dimensions</a:t>
            </a:r>
            <a:endParaRPr lang="en-GB" sz="27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89277E6-D19C-CFDE-D0C9-BFE0D7434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5AE4152-A310-7254-BE01-8601348C7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24" y="10177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171450" indent="-171450">
              <a:buFontTx/>
              <a:buChar char="-"/>
            </a:pPr>
            <a:r>
              <a:rPr lang="en-GB" sz="1200" dirty="0">
                <a:latin typeface="DM Sans" pitchFamily="2" charset="77"/>
              </a:rPr>
              <a:t>Maintenances (20 maintenances, 1PK, 5 features, 1FK)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693B839-861C-A207-6139-14D0D094A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24" y="1278708"/>
            <a:ext cx="7717501" cy="312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140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>
          <a:extLst>
            <a:ext uri="{FF2B5EF4-FFF2-40B4-BE49-F238E27FC236}">
              <a16:creationId xmlns:a16="http://schemas.microsoft.com/office/drawing/2014/main" id="{96BEA43D-C945-79E7-E2AD-511784146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F04B61A4-8CFB-A9B1-AE60-3ABA018F90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GB" sz="2800" b="1" dirty="0">
                <a:latin typeface="DM Sans" pitchFamily="2" charset="77"/>
              </a:rPr>
              <a:t>Tables and dimensions</a:t>
            </a:r>
            <a:endParaRPr lang="en-GB" sz="27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5F1ACC5-857D-E2C0-5759-710EA5F58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FB3B20A-B3DA-6D0B-E237-83F90F693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24" y="10177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171450" indent="-171450">
              <a:buFontTx/>
              <a:buChar char="-"/>
            </a:pPr>
            <a:r>
              <a:rPr lang="en-GB" sz="1200" dirty="0">
                <a:latin typeface="DM Sans" pitchFamily="2" charset="77"/>
              </a:rPr>
              <a:t>Subscriptions (30 subscriptions, 1PK, 5features, 1FK)</a:t>
            </a:r>
          </a:p>
          <a:p>
            <a:endParaRPr lang="en-GB" sz="1200" dirty="0">
              <a:latin typeface="DM Sans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6EF7F27-2090-A3EF-0A34-ACA93807C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079" y="1277395"/>
            <a:ext cx="6150789" cy="347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617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>
          <a:extLst>
            <a:ext uri="{FF2B5EF4-FFF2-40B4-BE49-F238E27FC236}">
              <a16:creationId xmlns:a16="http://schemas.microsoft.com/office/drawing/2014/main" id="{4D504E20-EBDA-FB5C-B856-B49E3A511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81E88565-1ED1-DDA7-CC90-4344636652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GB" sz="2800" b="1" dirty="0">
                <a:latin typeface="DM Sans" pitchFamily="2" charset="77"/>
              </a:rPr>
              <a:t>Tables and dimensions</a:t>
            </a:r>
            <a:endParaRPr lang="en-GB" sz="27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5EC2B49-ED3D-DDB9-AB9B-A0EC92FB3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A0299B2-6CCC-C1B5-A45C-CDE84CB25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24" y="10177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171450" indent="-171450">
              <a:buFontTx/>
              <a:buChar char="-"/>
            </a:pPr>
            <a:r>
              <a:rPr lang="en-GB" sz="1200" dirty="0">
                <a:latin typeface="DM Sans" pitchFamily="2" charset="77"/>
              </a:rPr>
              <a:t>Payments (58 payments, 1PK, 5features, 1FK)</a:t>
            </a:r>
          </a:p>
          <a:p>
            <a:endParaRPr lang="en-GB" sz="1200" dirty="0">
              <a:latin typeface="DM Sans" pitchFamily="2" charset="77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5B50B8D-F426-CA45-C676-504FD346A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585" y="1343897"/>
            <a:ext cx="6240780" cy="335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624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>
          <a:extLst>
            <a:ext uri="{FF2B5EF4-FFF2-40B4-BE49-F238E27FC236}">
              <a16:creationId xmlns:a16="http://schemas.microsoft.com/office/drawing/2014/main" id="{E0E84D7F-F2EC-C38E-8843-49E3DBBDF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117856A7-1CDD-FE52-6BC0-25A697C46E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GB" sz="2800" b="1" dirty="0">
                <a:latin typeface="DM Sans" pitchFamily="2" charset="77"/>
              </a:rPr>
              <a:t>Data consistency</a:t>
            </a:r>
            <a:endParaRPr lang="en-GB" sz="27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9F548E5-84EA-8864-7945-BF9AA9CBC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FB4E65B-D53D-8037-A271-25DBF8A06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24" y="10177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285750" indent="-28575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1800" dirty="0">
                <a:latin typeface="DM Sans" pitchFamily="2" charset="77"/>
              </a:rPr>
              <a:t>Total capacity of stations (66) &gt;= Total N° of bikes (66)</a:t>
            </a:r>
          </a:p>
          <a:p>
            <a:pPr marL="285750" indent="-28575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1800" dirty="0">
                <a:latin typeface="DM Sans" pitchFamily="2" charset="77"/>
              </a:rPr>
              <a:t>Capacity on each station &gt;= N° of docked bikes on such station: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876E7745-852F-87F4-ED36-5F0A1CA8D3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68447"/>
              </p:ext>
            </p:extLst>
          </p:nvPr>
        </p:nvGraphicFramePr>
        <p:xfrm>
          <a:off x="2571725" y="1737053"/>
          <a:ext cx="4000500" cy="2926080"/>
        </p:xfrm>
        <a:graphic>
          <a:graphicData uri="http://schemas.openxmlformats.org/drawingml/2006/table">
            <a:tbl>
              <a:tblPr/>
              <a:tblGrid>
                <a:gridCol w="756093">
                  <a:extLst>
                    <a:ext uri="{9D8B030D-6E8A-4147-A177-3AD203B41FA5}">
                      <a16:colId xmlns:a16="http://schemas.microsoft.com/office/drawing/2014/main" val="3996768496"/>
                    </a:ext>
                  </a:extLst>
                </a:gridCol>
                <a:gridCol w="1415607">
                  <a:extLst>
                    <a:ext uri="{9D8B030D-6E8A-4147-A177-3AD203B41FA5}">
                      <a16:colId xmlns:a16="http://schemas.microsoft.com/office/drawing/2014/main" val="98693568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17810304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243275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station_id</a:t>
                      </a:r>
                      <a:endParaRPr lang="es-CL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station_name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capacity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docked_bikes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3160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Porta </a:t>
                      </a:r>
                      <a:r>
                        <a:rPr lang="es-CL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Venezia</a:t>
                      </a:r>
                      <a:endParaRPr lang="es-C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3648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Duomo </a:t>
                      </a:r>
                      <a:r>
                        <a:rPr lang="es-CL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Centrale</a:t>
                      </a:r>
                      <a:endParaRPr lang="es-C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3756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Cadorna</a:t>
                      </a: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027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Garibaldi Stazione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4564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Porta Romana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1965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Bicocca </a:t>
                      </a:r>
                      <a:r>
                        <a:rPr lang="es-CL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Università</a:t>
                      </a:r>
                      <a:endParaRPr lang="es-C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3518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Lambrate</a:t>
                      </a: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6015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Sempione</a:t>
                      </a: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Arco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0341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Brera Pinacoteca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11166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Navigli</a:t>
                      </a: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CL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Darsena</a:t>
                      </a:r>
                      <a:endParaRPr lang="es-C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6588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Isola Piazza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2265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 Babila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7460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Porta Genova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6505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CityLife Mall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4012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Tre Torri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9346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9187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>
          <a:extLst>
            <a:ext uri="{FF2B5EF4-FFF2-40B4-BE49-F238E27FC236}">
              <a16:creationId xmlns:a16="http://schemas.microsoft.com/office/drawing/2014/main" id="{BE1CA591-F233-2779-60DB-D937FBFF5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9D63F0B7-F1C9-23F8-49CD-80082B96AB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GB" sz="2800" b="1" dirty="0">
                <a:latin typeface="DM Sans" pitchFamily="2" charset="77"/>
              </a:rPr>
              <a:t>Data consistency</a:t>
            </a:r>
            <a:endParaRPr lang="en-GB" sz="27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8B9B8C5-D419-15EA-42DF-E00CAD906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45BC674-970A-3B56-DAD7-618788D75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24" y="10177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285750" indent="-28575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1800" dirty="0">
                <a:latin typeface="DM Sans" pitchFamily="2" charset="77"/>
              </a:rPr>
              <a:t>Positive N° of ‘Low Battery Bikes’ (6)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480FB82-6159-C50B-F450-38D9FB60C5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824" y="1508562"/>
            <a:ext cx="7651575" cy="248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776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>
          <a:extLst>
            <a:ext uri="{FF2B5EF4-FFF2-40B4-BE49-F238E27FC236}">
              <a16:creationId xmlns:a16="http://schemas.microsoft.com/office/drawing/2014/main" id="{4EDA8E8B-E34E-68E1-59D0-DB6CFA55E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1">
            <a:extLst>
              <a:ext uri="{FF2B5EF4-FFF2-40B4-BE49-F238E27FC236}">
                <a16:creationId xmlns:a16="http://schemas.microsoft.com/office/drawing/2014/main" id="{A87E356C-5CA4-FAA0-0F84-20F42005B9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98835" y="1920000"/>
            <a:ext cx="4559700" cy="130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Insights</a:t>
            </a:r>
            <a:endParaRPr dirty="0"/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1B1AE7F3-8105-F346-346F-E8BD2D01D0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980" y="4574564"/>
            <a:ext cx="408556" cy="40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817AF75-1843-2560-D02C-B5B8BD7279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923" t="20963" r="15" b="27629"/>
          <a:stretch>
            <a:fillRect/>
          </a:stretch>
        </p:blipFill>
        <p:spPr>
          <a:xfrm>
            <a:off x="975359" y="977010"/>
            <a:ext cx="4107181" cy="3123708"/>
          </a:xfrm>
          <a:prstGeom prst="rect">
            <a:avLst/>
          </a:prstGeom>
        </p:spPr>
      </p:pic>
      <p:sp>
        <p:nvSpPr>
          <p:cNvPr id="6" name="Google Shape;1080;p37">
            <a:extLst>
              <a:ext uri="{FF2B5EF4-FFF2-40B4-BE49-F238E27FC236}">
                <a16:creationId xmlns:a16="http://schemas.microsoft.com/office/drawing/2014/main" id="{0B6D6262-CB1E-81D0-2C3B-304AB6CA6CAF}"/>
              </a:ext>
            </a:extLst>
          </p:cNvPr>
          <p:cNvSpPr txBox="1">
            <a:spLocks/>
          </p:cNvSpPr>
          <p:nvPr/>
        </p:nvSpPr>
        <p:spPr>
          <a:xfrm>
            <a:off x="4998835" y="2456349"/>
            <a:ext cx="3128100" cy="10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6000" b="0" i="0" u="none" strike="noStrike" cap="none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96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96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96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96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96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96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96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aloo 2 ExtraBold"/>
              <a:buNone/>
              <a:defRPr sz="96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br>
              <a:rPr lang="es-CL" sz="4800" dirty="0"/>
            </a:br>
            <a:r>
              <a:rPr lang="es-CL" sz="2400" dirty="0" err="1">
                <a:solidFill>
                  <a:schemeClr val="bg1"/>
                </a:solidFill>
              </a:rPr>
              <a:t>for</a:t>
            </a:r>
            <a:r>
              <a:rPr lang="es-CL" sz="2400" dirty="0">
                <a:solidFill>
                  <a:schemeClr val="bg1"/>
                </a:solidFill>
              </a:rPr>
              <a:t> </a:t>
            </a:r>
            <a:r>
              <a:rPr lang="es-CL" sz="2400" dirty="0" err="1">
                <a:solidFill>
                  <a:schemeClr val="bg1"/>
                </a:solidFill>
              </a:rPr>
              <a:t>the</a:t>
            </a:r>
            <a:r>
              <a:rPr lang="es-CL" sz="2400" dirty="0">
                <a:solidFill>
                  <a:schemeClr val="bg1"/>
                </a:solidFill>
              </a:rPr>
              <a:t> City Council</a:t>
            </a:r>
            <a:endParaRPr lang="es-CL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362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>
          <a:extLst>
            <a:ext uri="{FF2B5EF4-FFF2-40B4-BE49-F238E27FC236}">
              <a16:creationId xmlns:a16="http://schemas.microsoft.com/office/drawing/2014/main" id="{AD4C3505-A327-55B6-BB43-D4E6CC84A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D1F32188-30E8-5F90-76B2-B90F5ABAD5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GB" sz="2800" b="1" dirty="0">
                <a:latin typeface="DM Sans" pitchFamily="2" charset="77"/>
              </a:rPr>
              <a:t>Station Popularity</a:t>
            </a:r>
            <a:endParaRPr lang="en-GB" sz="27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09AC865-796C-9AAD-4025-9BB37180E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1C1A386-C8B7-0976-B486-AE0B3D5CD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371" y="2186896"/>
            <a:ext cx="4034313" cy="221759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4734DFF-CF14-BAAD-FA46-935946EE1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24" y="1150532"/>
            <a:ext cx="3818634" cy="2072727"/>
          </a:xfrm>
          <a:prstGeom prst="rect">
            <a:avLst/>
          </a:prstGeom>
        </p:spPr>
      </p:pic>
      <p:sp>
        <p:nvSpPr>
          <p:cNvPr id="8" name="Flecha: doblada 7">
            <a:extLst>
              <a:ext uri="{FF2B5EF4-FFF2-40B4-BE49-F238E27FC236}">
                <a16:creationId xmlns:a16="http://schemas.microsoft.com/office/drawing/2014/main" id="{CAEC4941-FFD5-9EB1-AC2E-BA77ABC8DA6D}"/>
              </a:ext>
            </a:extLst>
          </p:cNvPr>
          <p:cNvSpPr/>
          <p:nvPr/>
        </p:nvSpPr>
        <p:spPr>
          <a:xfrm rot="10800000" flipH="1">
            <a:off x="2824978" y="3223259"/>
            <a:ext cx="1706880" cy="678180"/>
          </a:xfrm>
          <a:prstGeom prst="bentArrow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32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>
          <a:extLst>
            <a:ext uri="{FF2B5EF4-FFF2-40B4-BE49-F238E27FC236}">
              <a16:creationId xmlns:a16="http://schemas.microsoft.com/office/drawing/2014/main" id="{72D70360-5BAA-21D5-86EF-0EB624002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801FE7C0-C818-889C-6A70-F198A4767F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GB" sz="2800" b="1" dirty="0">
                <a:latin typeface="DM Sans" pitchFamily="2" charset="77"/>
              </a:rPr>
              <a:t>Revenue Analysis</a:t>
            </a:r>
            <a:endParaRPr lang="en-GB" sz="27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61175C6-2396-602A-E6A8-5DEB472E6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A0DFE41-ECBD-3D97-04EB-DF2FDD91C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24" y="1017725"/>
            <a:ext cx="5447175" cy="2525319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DC511AF-18DB-41DD-089E-1F1A8B142A2D}"/>
              </a:ext>
            </a:extLst>
          </p:cNvPr>
          <p:cNvSpPr/>
          <p:nvPr/>
        </p:nvSpPr>
        <p:spPr>
          <a:xfrm>
            <a:off x="4152900" y="2840429"/>
            <a:ext cx="4277825" cy="2173531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D772827-4207-3991-A737-20410F122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552" y="2898153"/>
            <a:ext cx="4160520" cy="2058082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4FA8BBE0-A21F-5962-FBC6-C4C35B29231F}"/>
              </a:ext>
            </a:extLst>
          </p:cNvPr>
          <p:cNvSpPr/>
          <p:nvPr/>
        </p:nvSpPr>
        <p:spPr>
          <a:xfrm rot="10800000" flipH="1">
            <a:off x="2475346" y="3543044"/>
            <a:ext cx="1706880" cy="678180"/>
          </a:xfrm>
          <a:prstGeom prst="bentArrow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156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>
          <a:extLst>
            <a:ext uri="{FF2B5EF4-FFF2-40B4-BE49-F238E27FC236}">
              <a16:creationId xmlns:a16="http://schemas.microsoft.com/office/drawing/2014/main" id="{BEC4DC8E-8484-14F6-73FD-3C8FBC33E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3C9A81D7-10EE-A3B0-E845-65000E9428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GB" sz="2800" b="1" dirty="0">
                <a:latin typeface="DM Sans" pitchFamily="2" charset="77"/>
              </a:rPr>
              <a:t>Revenue Analysis</a:t>
            </a:r>
            <a:endParaRPr lang="en-GB" sz="2700" dirty="0"/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70B9B89A-07BF-DC1E-6CF0-3BF224E18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949276"/>
              </p:ext>
            </p:extLst>
          </p:nvPr>
        </p:nvGraphicFramePr>
        <p:xfrm>
          <a:off x="266591" y="1907325"/>
          <a:ext cx="3509250" cy="1554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299">
                  <a:extLst>
                    <a:ext uri="{9D8B030D-6E8A-4147-A177-3AD203B41FA5}">
                      <a16:colId xmlns:a16="http://schemas.microsoft.com/office/drawing/2014/main" val="2462452122"/>
                    </a:ext>
                  </a:extLst>
                </a:gridCol>
                <a:gridCol w="675131">
                  <a:extLst>
                    <a:ext uri="{9D8B030D-6E8A-4147-A177-3AD203B41FA5}">
                      <a16:colId xmlns:a16="http://schemas.microsoft.com/office/drawing/2014/main" val="1965217241"/>
                    </a:ext>
                  </a:extLst>
                </a:gridCol>
                <a:gridCol w="740980">
                  <a:extLst>
                    <a:ext uri="{9D8B030D-6E8A-4147-A177-3AD203B41FA5}">
                      <a16:colId xmlns:a16="http://schemas.microsoft.com/office/drawing/2014/main" val="4011824109"/>
                    </a:ext>
                  </a:extLst>
                </a:gridCol>
                <a:gridCol w="788276">
                  <a:extLst>
                    <a:ext uri="{9D8B030D-6E8A-4147-A177-3AD203B41FA5}">
                      <a16:colId xmlns:a16="http://schemas.microsoft.com/office/drawing/2014/main" val="2340811220"/>
                    </a:ext>
                  </a:extLst>
                </a:gridCol>
                <a:gridCol w="701564">
                  <a:extLst>
                    <a:ext uri="{9D8B030D-6E8A-4147-A177-3AD203B41FA5}">
                      <a16:colId xmlns:a16="http://schemas.microsoft.com/office/drawing/2014/main" val="1226744686"/>
                    </a:ext>
                  </a:extLst>
                </a:gridCol>
              </a:tblGrid>
              <a:tr h="33585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05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Month</a:t>
                      </a:r>
                      <a:endParaRPr lang="es-CL" sz="105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Pay</a:t>
                      </a:r>
                      <a:r>
                        <a:rPr lang="es-CL" sz="105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 as-</a:t>
                      </a:r>
                      <a:r>
                        <a:rPr lang="es-CL" sz="105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you</a:t>
                      </a:r>
                      <a:r>
                        <a:rPr lang="es-CL" sz="105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es-CL" sz="105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go</a:t>
                      </a:r>
                      <a:endParaRPr lang="es-CL" sz="105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Monthly</a:t>
                      </a:r>
                      <a:endParaRPr lang="es-CL" sz="105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Quarterly</a:t>
                      </a:r>
                      <a:endParaRPr lang="es-CL" sz="105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Yearly</a:t>
                      </a:r>
                      <a:endParaRPr lang="es-CL" sz="105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26771865"/>
                  </a:ext>
                </a:extLst>
              </a:tr>
              <a:tr h="2030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ene-24</a:t>
                      </a:r>
                      <a:endParaRPr lang="es-CL" sz="105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€ 227 </a:t>
                      </a:r>
                      <a:endParaRPr lang="es-CL" sz="105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€ 1.999 </a:t>
                      </a:r>
                      <a:endParaRPr lang="es-CL" sz="105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€ 14.997 </a:t>
                      </a:r>
                      <a:endParaRPr lang="es-CL" sz="105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€ 59.996 </a:t>
                      </a:r>
                      <a:endParaRPr lang="es-CL" sz="105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79012524"/>
                  </a:ext>
                </a:extLst>
              </a:tr>
              <a:tr h="2030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>
                          <a:solidFill>
                            <a:schemeClr val="tx1"/>
                          </a:solidFill>
                          <a:effectLst/>
                        </a:rPr>
                        <a:t>feb-24</a:t>
                      </a:r>
                      <a:endParaRPr lang="es-CL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€ 143 </a:t>
                      </a:r>
                      <a:endParaRPr lang="es-CL" sz="105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€ 3.998 </a:t>
                      </a:r>
                      <a:endParaRPr lang="es-CL" sz="105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€ 19.996 </a:t>
                      </a:r>
                      <a:endParaRPr lang="es-CL" sz="105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€ 14.999 </a:t>
                      </a:r>
                      <a:endParaRPr lang="es-CL" sz="105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54897614"/>
                  </a:ext>
                </a:extLst>
              </a:tr>
              <a:tr h="2030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>
                          <a:solidFill>
                            <a:schemeClr val="tx1"/>
                          </a:solidFill>
                          <a:effectLst/>
                        </a:rPr>
                        <a:t>mar-24</a:t>
                      </a:r>
                      <a:endParaRPr lang="es-CL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€ 157</a:t>
                      </a:r>
                      <a:endParaRPr lang="es-CL" sz="105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€ 7.996 </a:t>
                      </a:r>
                      <a:endParaRPr lang="es-CL" sz="105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€ 4.999 </a:t>
                      </a:r>
                      <a:endParaRPr lang="es-CL" sz="105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€ 29.998 </a:t>
                      </a:r>
                      <a:endParaRPr lang="es-CL" sz="105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02814430"/>
                  </a:ext>
                </a:extLst>
              </a:tr>
              <a:tr h="2030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>
                          <a:solidFill>
                            <a:schemeClr val="tx1"/>
                          </a:solidFill>
                          <a:effectLst/>
                        </a:rPr>
                        <a:t>abr-24</a:t>
                      </a:r>
                      <a:endParaRPr lang="es-CL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€ 94 </a:t>
                      </a:r>
                      <a:endParaRPr lang="es-CL" sz="105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€ 5.997 </a:t>
                      </a:r>
                      <a:endParaRPr lang="es-CL" sz="105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€ 4.999 </a:t>
                      </a:r>
                      <a:endParaRPr lang="es-CL" sz="105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€ 44.997 </a:t>
                      </a:r>
                      <a:endParaRPr lang="es-CL" sz="105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27959655"/>
                  </a:ext>
                </a:extLst>
              </a:tr>
              <a:tr h="2030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>
                          <a:solidFill>
                            <a:schemeClr val="tx1"/>
                          </a:solidFill>
                          <a:effectLst/>
                        </a:rPr>
                        <a:t>may-24</a:t>
                      </a:r>
                      <a:endParaRPr lang="es-CL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€ 422 </a:t>
                      </a:r>
                      <a:endParaRPr lang="es-CL" sz="105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€ 1.999 </a:t>
                      </a:r>
                      <a:endParaRPr lang="es-CL" sz="105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€ -   </a:t>
                      </a:r>
                      <a:endParaRPr lang="es-CL" sz="105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€ -   </a:t>
                      </a:r>
                      <a:endParaRPr lang="es-CL" sz="105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31857575"/>
                  </a:ext>
                </a:extLst>
              </a:tr>
              <a:tr h="2030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>
                          <a:solidFill>
                            <a:schemeClr val="tx1"/>
                          </a:solidFill>
                          <a:effectLst/>
                        </a:rPr>
                        <a:t>jun-24</a:t>
                      </a:r>
                      <a:endParaRPr lang="es-CL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€ 11 </a:t>
                      </a:r>
                      <a:endParaRPr lang="es-CL" sz="105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€ -   </a:t>
                      </a:r>
                      <a:endParaRPr lang="es-CL" sz="105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€   -   </a:t>
                      </a:r>
                      <a:endParaRPr lang="es-CL" sz="105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5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€ -   </a:t>
                      </a:r>
                      <a:endParaRPr lang="es-CL" sz="105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06631185"/>
                  </a:ext>
                </a:extLst>
              </a:tr>
            </a:tbl>
          </a:graphicData>
        </a:graphic>
      </p:graphicFrame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3D5CF99D-C2B2-3FC2-2A3C-A1C2EB828B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5746733"/>
              </p:ext>
            </p:extLst>
          </p:nvPr>
        </p:nvGraphicFramePr>
        <p:xfrm>
          <a:off x="3878317" y="1017725"/>
          <a:ext cx="4781008" cy="3333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83975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>
          <a:extLst>
            <a:ext uri="{FF2B5EF4-FFF2-40B4-BE49-F238E27FC236}">
              <a16:creationId xmlns:a16="http://schemas.microsoft.com/office/drawing/2014/main" id="{CA2C4A3A-787A-BE12-4E82-3FDEE2B00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684E5F89-2413-6D23-970D-ADCC4D7684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GB" sz="2800" b="1" dirty="0">
                <a:latin typeface="DM Sans" pitchFamily="2" charset="77"/>
              </a:rPr>
              <a:t>Maintenance Alert</a:t>
            </a:r>
            <a:endParaRPr lang="en-GB" sz="27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C4359F7-C3DC-2A4D-4605-740C19D04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843CBF0-F791-8E50-D991-7C616967E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24" y="1017725"/>
            <a:ext cx="3305612" cy="2549584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350689D4-9F43-1E98-F400-170450BF7A8F}"/>
              </a:ext>
            </a:extLst>
          </p:cNvPr>
          <p:cNvSpPr/>
          <p:nvPr/>
        </p:nvSpPr>
        <p:spPr>
          <a:xfrm rot="10800000" flipH="1">
            <a:off x="953973" y="3567309"/>
            <a:ext cx="1706880" cy="678180"/>
          </a:xfrm>
          <a:prstGeom prst="bentArrow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2004279-BAAD-FBA9-B48B-6C5C832C1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6100" y="3757809"/>
            <a:ext cx="5744377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164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>
          <a:extLst>
            <a:ext uri="{FF2B5EF4-FFF2-40B4-BE49-F238E27FC236}">
              <a16:creationId xmlns:a16="http://schemas.microsoft.com/office/drawing/2014/main" id="{097539ED-47E4-4CDA-1DCB-6922BA913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993599C3-49D4-C0A3-4804-F73A65679A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GB" sz="2800" b="1" dirty="0">
                <a:latin typeface="DM Sans" pitchFamily="2" charset="77"/>
              </a:rPr>
              <a:t>Maintenance Alert</a:t>
            </a:r>
            <a:endParaRPr lang="en-GB" sz="27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6038057-9326-EC2B-2515-0F826D7FF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6ADF421-2F07-9D4A-FE99-47EB8BB9B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24" y="1017725"/>
            <a:ext cx="3305612" cy="2549584"/>
          </a:xfrm>
          <a:prstGeom prst="rect">
            <a:avLst/>
          </a:prstGeom>
        </p:spPr>
      </p:pic>
      <p:sp>
        <p:nvSpPr>
          <p:cNvPr id="5" name="Flecha: doblada 4">
            <a:extLst>
              <a:ext uri="{FF2B5EF4-FFF2-40B4-BE49-F238E27FC236}">
                <a16:creationId xmlns:a16="http://schemas.microsoft.com/office/drawing/2014/main" id="{09F56D19-1915-2556-9A11-D4B4882C9E1A}"/>
              </a:ext>
            </a:extLst>
          </p:cNvPr>
          <p:cNvSpPr/>
          <p:nvPr/>
        </p:nvSpPr>
        <p:spPr>
          <a:xfrm rot="10800000" flipH="1">
            <a:off x="953973" y="3567309"/>
            <a:ext cx="1706880" cy="678180"/>
          </a:xfrm>
          <a:prstGeom prst="bentArrow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456EAAF-1590-52D1-AF96-1D62377F7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6100" y="3757809"/>
            <a:ext cx="5744377" cy="676369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A015B48A-4FCC-7A90-AA79-8F757413CC40}"/>
              </a:ext>
            </a:extLst>
          </p:cNvPr>
          <p:cNvSpPr/>
          <p:nvPr/>
        </p:nvSpPr>
        <p:spPr>
          <a:xfrm>
            <a:off x="1199323" y="1437642"/>
            <a:ext cx="7373243" cy="1992175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C5AD71D-0EA5-B0DD-A8FA-067B7D30BB9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453" t="467" r="107" b="52518"/>
          <a:stretch>
            <a:fillRect/>
          </a:stretch>
        </p:blipFill>
        <p:spPr>
          <a:xfrm>
            <a:off x="1271412" y="1521719"/>
            <a:ext cx="7217296" cy="181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995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>
          <a:extLst>
            <a:ext uri="{FF2B5EF4-FFF2-40B4-BE49-F238E27FC236}">
              <a16:creationId xmlns:a16="http://schemas.microsoft.com/office/drawing/2014/main" id="{885C03B6-0F70-CC7C-A4F5-15FACE81E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0FDB3661-5981-81A3-2943-D16A68E47A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GB" sz="2800" b="1" dirty="0">
                <a:latin typeface="DM Sans" pitchFamily="2" charset="77"/>
              </a:rPr>
              <a:t>User </a:t>
            </a:r>
            <a:r>
              <a:rPr lang="en-GB" sz="2800" b="1" dirty="0" err="1">
                <a:latin typeface="DM Sans" pitchFamily="2" charset="77"/>
              </a:rPr>
              <a:t>Behavior</a:t>
            </a:r>
            <a:endParaRPr lang="en-GB" sz="27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A85C93A-560E-20F0-8EAE-3144D6634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0A33018-AF1E-40F0-FF5B-432705F22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5740" y="1520412"/>
            <a:ext cx="4797175" cy="260536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1B286D8-765F-A7CF-B33D-9F3600351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765" y="1520411"/>
            <a:ext cx="3344627" cy="2605364"/>
          </a:xfrm>
          <a:prstGeom prst="rect">
            <a:avLst/>
          </a:prstGeom>
        </p:spPr>
      </p:pic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1F56931C-9046-C1B3-D2DB-1769FD45906B}"/>
              </a:ext>
            </a:extLst>
          </p:cNvPr>
          <p:cNvSpPr/>
          <p:nvPr/>
        </p:nvSpPr>
        <p:spPr>
          <a:xfrm>
            <a:off x="3627120" y="2560897"/>
            <a:ext cx="388620" cy="441960"/>
          </a:xfrm>
          <a:prstGeom prst="rightArrow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5B8A6963-FC94-915C-7F21-AFEA22506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24" y="10177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1800" dirty="0">
                <a:latin typeface="DM Sans" pitchFamily="2" charset="77"/>
              </a:rPr>
              <a:t>The average ridden distance in the dataset is 3,069</a:t>
            </a:r>
          </a:p>
        </p:txBody>
      </p:sp>
    </p:spTree>
    <p:extLst>
      <p:ext uri="{BB962C8B-B14F-4D97-AF65-F5344CB8AC3E}">
        <p14:creationId xmlns:p14="http://schemas.microsoft.com/office/powerpoint/2010/main" val="3497555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37"/>
          <p:cNvSpPr txBox="1">
            <a:spLocks noGrp="1"/>
          </p:cNvSpPr>
          <p:nvPr>
            <p:ph type="title"/>
          </p:nvPr>
        </p:nvSpPr>
        <p:spPr>
          <a:xfrm>
            <a:off x="5302676" y="2595275"/>
            <a:ext cx="3128100" cy="10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Thank you!</a:t>
            </a:r>
            <a:endParaRPr sz="4800" dirty="0"/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BFDC938F-4038-BC4E-942F-DBDB2D5D03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328" y="4260018"/>
            <a:ext cx="744992" cy="744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4EC58DF-8414-460C-4AEB-7AB8C4CDF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688" y="787825"/>
            <a:ext cx="5367134" cy="3578089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2380F8DC-2B88-E562-6280-F0D942EDAF83}"/>
              </a:ext>
            </a:extLst>
          </p:cNvPr>
          <p:cNvSpPr txBox="1"/>
          <p:nvPr/>
        </p:nvSpPr>
        <p:spPr>
          <a:xfrm>
            <a:off x="5302676" y="3504467"/>
            <a:ext cx="180308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n-GB" sz="1100" dirty="0">
                <a:solidFill>
                  <a:schemeClr val="accent1">
                    <a:lumMod val="75000"/>
                  </a:schemeClr>
                </a:solidFill>
                <a:latin typeface="DM Sans 14pt" pitchFamily="2" charset="77"/>
              </a:rPr>
              <a:t>Maria Briones</a:t>
            </a:r>
          </a:p>
          <a:p>
            <a:pPr lvl="0"/>
            <a:r>
              <a:rPr lang="en-GB" sz="1100" dirty="0">
                <a:solidFill>
                  <a:schemeClr val="accent1">
                    <a:lumMod val="75000"/>
                  </a:schemeClr>
                </a:solidFill>
                <a:latin typeface="DM Sans 14pt" pitchFamily="2" charset="77"/>
              </a:rPr>
              <a:t>Riccardo Dondi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n-GB" sz="1100" dirty="0">
                <a:solidFill>
                  <a:schemeClr val="accent1">
                    <a:lumMod val="75000"/>
                  </a:schemeClr>
                </a:solidFill>
                <a:latin typeface="DM Sans 14pt" pitchFamily="2" charset="77"/>
              </a:rPr>
              <a:t>Sayantan Mandal</a:t>
            </a:r>
          </a:p>
        </p:txBody>
      </p:sp>
      <p:sp>
        <p:nvSpPr>
          <p:cNvPr id="7" name="Google Shape;667;p27">
            <a:extLst>
              <a:ext uri="{FF2B5EF4-FFF2-40B4-BE49-F238E27FC236}">
                <a16:creationId xmlns:a16="http://schemas.microsoft.com/office/drawing/2014/main" id="{62C3B63D-2C3E-AE94-28BE-4AD92C2EC89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52769" y="4606237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/>
              <a:t>Data Science for Management Master</a:t>
            </a:r>
            <a:endParaRPr sz="1050" dirty="0"/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C3D1C55C-31CC-0F2C-BD35-9606447D4FC8}"/>
              </a:ext>
            </a:extLst>
          </p:cNvPr>
          <p:cNvSpPr txBox="1"/>
          <p:nvPr/>
        </p:nvSpPr>
        <p:spPr>
          <a:xfrm>
            <a:off x="5452769" y="4496988"/>
            <a:ext cx="26805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1200" b="1" dirty="0">
                <a:solidFill>
                  <a:schemeClr val="accent3"/>
                </a:solidFill>
                <a:latin typeface="Baloo 2 ExtraBold" pitchFamily="2" charset="77"/>
                <a:cs typeface="Baloo 2 ExtraBold" pitchFamily="2" charset="77"/>
              </a:rPr>
              <a:t>Data Management and Warehousing</a:t>
            </a:r>
            <a:endParaRPr lang="en-IT" sz="1200" b="1" dirty="0">
              <a:solidFill>
                <a:schemeClr val="accent3"/>
              </a:solidFill>
              <a:latin typeface="Baloo 2 ExtraBold" pitchFamily="2" charset="77"/>
              <a:cs typeface="Baloo 2 ExtraBold" pitchFamily="2" charset="77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57">
          <a:extLst>
            <a:ext uri="{FF2B5EF4-FFF2-40B4-BE49-F238E27FC236}">
              <a16:creationId xmlns:a16="http://schemas.microsoft.com/office/drawing/2014/main" id="{52FD2861-9B82-7F8F-6339-808743DA6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2F63CF84-34CD-E3E8-5B50-2A2376CFCD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/>
              <a:t>EcoRide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240F62C-4818-27B0-C80B-CD0FCD834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5" y="1208225"/>
            <a:ext cx="3668250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lvl="0" eaLnBrk="0" fontAlgn="base" hangingPunct="0">
              <a:spcAft>
                <a:spcPts val="600"/>
              </a:spcAft>
            </a:pPr>
            <a:r>
              <a:rPr lang="en-US" altLang="en-IT" sz="1300" b="0" i="0" u="none" strike="noStrike" cap="none">
                <a:solidFill>
                  <a:schemeClr val="dk1"/>
                </a:solidFill>
                <a:latin typeface="DM Sans" pitchFamily="2" charset="77"/>
              </a:rPr>
              <a:t>The city of </a:t>
            </a:r>
            <a:r>
              <a:rPr lang="en-US" altLang="en-IT" sz="1300" b="1" i="0" u="none" strike="noStrike" cap="none">
                <a:solidFill>
                  <a:srgbClr val="00B050"/>
                </a:solidFill>
                <a:latin typeface="DM Sans" pitchFamily="2" charset="77"/>
              </a:rPr>
              <a:t>Neo-Metropolis </a:t>
            </a:r>
            <a:r>
              <a:rPr lang="en-US" altLang="en-IT" sz="1300" b="0" i="0" u="none" strike="noStrike" cap="none">
                <a:solidFill>
                  <a:schemeClr val="dk1"/>
                </a:solidFill>
                <a:latin typeface="DM Sans" pitchFamily="2" charset="77"/>
              </a:rPr>
              <a:t>is launching a massive green initiative. They are deploying thousands of bicycles (both electric and standard) across hundreds of docking stations. They need a robust back-end system to manage users, track bike inventory in real-time, handle subscriptions, and analyze ride patterns to optimize bike distribution.</a:t>
            </a:r>
          </a:p>
          <a:p>
            <a:pPr lvl="0" eaLnBrk="0" fontAlgn="base" hangingPunct="0">
              <a:spcAft>
                <a:spcPts val="600"/>
              </a:spcAft>
            </a:pPr>
            <a:endParaRPr lang="en-US" altLang="en-IT" sz="1300" b="0" i="0" u="none" strike="noStrike" cap="none">
              <a:solidFill>
                <a:schemeClr val="dk1"/>
              </a:solidFill>
              <a:latin typeface="DM Sans" pitchFamily="2" charset="77"/>
            </a:endParaRPr>
          </a:p>
          <a:p>
            <a:pPr lvl="0" eaLnBrk="0" fontAlgn="base" hangingPunct="0">
              <a:spcAft>
                <a:spcPts val="600"/>
              </a:spcAft>
            </a:pPr>
            <a:r>
              <a:rPr lang="en-US" altLang="en-IT" sz="1300" b="0" i="0" u="none" strike="noStrike" cap="none">
                <a:solidFill>
                  <a:schemeClr val="dk1"/>
                </a:solidFill>
                <a:latin typeface="DM Sans" pitchFamily="2" charset="77"/>
              </a:rPr>
              <a:t>As the Lead Database Architects, your job is to design a system that ensures data integrity (e.g., a bike cannot be in two stations at once) and provides high-performance querying for the city's mobile app.</a:t>
            </a:r>
            <a:endParaRPr kumimoji="0" lang="en-US" altLang="en-IT" sz="1300" b="0" i="0" u="none" strike="noStrike" cap="none" normalizeH="0" baseline="0">
              <a:ln>
                <a:noFill/>
              </a:ln>
              <a:solidFill>
                <a:schemeClr val="dk1"/>
              </a:solidFill>
              <a:effectLst/>
              <a:latin typeface="DM Sans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31A1C9-B11B-A979-E595-CFBC13A970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414" r="19343" b="-2"/>
          <a:stretch>
            <a:fillRect/>
          </a:stretch>
        </p:blipFill>
        <p:spPr>
          <a:xfrm>
            <a:off x="4762475" y="1208225"/>
            <a:ext cx="3668250" cy="32644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22760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57">
          <a:extLst>
            <a:ext uri="{FF2B5EF4-FFF2-40B4-BE49-F238E27FC236}">
              <a16:creationId xmlns:a16="http://schemas.microsoft.com/office/drawing/2014/main" id="{DCA3DEF9-2435-F7EC-15A9-90684B295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9C550C3A-F8A3-E3B0-5D59-02A9B57531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/>
              <a:t>Deliverables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67257B6-6AFB-250C-5707-C264FCB71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GB" sz="1200" dirty="0">
                <a:latin typeface="DM Sans" pitchFamily="2" charset="77"/>
              </a:rPr>
              <a:t>This project follows the full lifecycle of database development. You will submit a comprehensive technical report containing the following four sections:</a:t>
            </a:r>
          </a:p>
          <a:p>
            <a:endParaRPr lang="en-GB" sz="1200" dirty="0">
              <a:latin typeface="DM Sans" pitchFamily="2" charset="77"/>
            </a:endParaRPr>
          </a:p>
          <a:p>
            <a:r>
              <a:rPr lang="en-GB" sz="1200" b="1" dirty="0">
                <a:latin typeface="DM Sans" pitchFamily="2" charset="77"/>
              </a:rPr>
              <a:t>1. Conceptual Design (E-R Diagram)</a:t>
            </a:r>
            <a:br>
              <a:rPr lang="en-GB" sz="1200" b="1" dirty="0">
                <a:latin typeface="DM Sans" pitchFamily="2" charset="77"/>
              </a:rPr>
            </a:br>
            <a:endParaRPr lang="en-GB" sz="1200" b="1" dirty="0">
              <a:latin typeface="DM Sans" pitchFamily="2" charset="77"/>
            </a:endParaRPr>
          </a:p>
          <a:p>
            <a:r>
              <a:rPr lang="en-GB" sz="1200" dirty="0">
                <a:latin typeface="DM Sans" pitchFamily="2" charset="77"/>
              </a:rPr>
              <a:t>You must translate the business requirements into an </a:t>
            </a:r>
            <a:r>
              <a:rPr lang="en-GB" sz="1200" b="1" dirty="0">
                <a:latin typeface="DM Sans" pitchFamily="2" charset="77"/>
              </a:rPr>
              <a:t>Entity-Relationship (E-R) Diagram</a:t>
            </a:r>
            <a:r>
              <a:rPr lang="en-GB" sz="1200" dirty="0">
                <a:latin typeface="DM Sans" pitchFamily="2" charset="77"/>
              </a:rPr>
              <a:t>. Identify the core entities (Users, Bikes, Stations, Maintenance Logs, etc.), their attributes, and the cardinalities of their relationships.</a:t>
            </a:r>
            <a:br>
              <a:rPr lang="en-GB" sz="1200" dirty="0">
                <a:latin typeface="DM Sans" pitchFamily="2" charset="77"/>
              </a:rPr>
            </a:br>
            <a:endParaRPr lang="en-GB" sz="1200" dirty="0">
              <a:latin typeface="DM Sans" pitchFamily="2" charset="77"/>
            </a:endParaRPr>
          </a:p>
          <a:p>
            <a:r>
              <a:rPr lang="en-GB" sz="1200" b="1" dirty="0">
                <a:latin typeface="DM Sans" pitchFamily="2" charset="77"/>
              </a:rPr>
              <a:t>Key Requirement:</a:t>
            </a:r>
            <a:r>
              <a:rPr lang="en-GB" sz="1200" dirty="0">
                <a:latin typeface="DM Sans" pitchFamily="2" charset="77"/>
              </a:rPr>
              <a:t> Clearly mark Primary Keys and relationship types between entities, both left-to-right and right-to-left.</a:t>
            </a:r>
          </a:p>
          <a:p>
            <a:endParaRPr lang="en-GB" sz="1200" dirty="0">
              <a:latin typeface="DM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376002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57">
          <a:extLst>
            <a:ext uri="{FF2B5EF4-FFF2-40B4-BE49-F238E27FC236}">
              <a16:creationId xmlns:a16="http://schemas.microsoft.com/office/drawing/2014/main" id="{65F8166A-0162-C148-38A4-E3E219FD7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605B0AF1-0A7A-0589-7C3F-5B13593C5D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/>
              <a:t>Deliverables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ED98383-5A6A-ECD9-1E68-45C3F69D0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D2DE4-6E39-2F2A-985C-146329F6441A}"/>
              </a:ext>
            </a:extLst>
          </p:cNvPr>
          <p:cNvSpPr txBox="1"/>
          <p:nvPr/>
        </p:nvSpPr>
        <p:spPr>
          <a:xfrm>
            <a:off x="713224" y="1162369"/>
            <a:ext cx="727783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200" b="1">
                <a:latin typeface="DM Sans" pitchFamily="2" charset="77"/>
              </a:rPr>
              <a:t>2. Logical and Physical Models</a:t>
            </a:r>
            <a:br>
              <a:rPr lang="en-GB" sz="1200" b="1">
                <a:latin typeface="DM Sans" pitchFamily="2" charset="77"/>
              </a:rPr>
            </a:br>
            <a:endParaRPr lang="en-GB" sz="1200" b="1">
              <a:latin typeface="DM Sans" pitchFamily="2" charset="77"/>
            </a:endParaRPr>
          </a:p>
          <a:p>
            <a:pPr>
              <a:buNone/>
            </a:pPr>
            <a:r>
              <a:rPr lang="en-GB" sz="1200">
                <a:latin typeface="DM Sans" pitchFamily="2" charset="77"/>
              </a:rPr>
              <a:t>Next, map your E-R diagram to a </a:t>
            </a:r>
            <a:r>
              <a:rPr lang="en-GB" sz="1200" b="1">
                <a:latin typeface="DM Sans" pitchFamily="2" charset="77"/>
              </a:rPr>
              <a:t>Relational Schema</a:t>
            </a:r>
            <a:r>
              <a:rPr lang="en-GB" sz="1200">
                <a:latin typeface="DM Sans" pitchFamily="2" charset="77"/>
              </a:rPr>
              <a:t>.</a:t>
            </a:r>
            <a:br>
              <a:rPr lang="en-GB" sz="1200">
                <a:latin typeface="DM Sans" pitchFamily="2" charset="77"/>
              </a:rPr>
            </a:br>
            <a:endParaRPr lang="en-GB" sz="1200">
              <a:latin typeface="DM Sans" pitchFamily="2" charset="7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>
                <a:latin typeface="DM Sans" pitchFamily="2" charset="77"/>
              </a:rPr>
              <a:t>  Logical Model:</a:t>
            </a:r>
            <a:r>
              <a:rPr lang="en-GB" sz="1200">
                <a:latin typeface="DM Sans" pitchFamily="2" charset="77"/>
              </a:rPr>
              <a:t> Convert entities into tables. Normalize your tables to at least </a:t>
            </a:r>
            <a:r>
              <a:rPr lang="en-GB" sz="1200" b="1">
                <a:latin typeface="DM Sans" pitchFamily="2" charset="77"/>
              </a:rPr>
              <a:t>Third Normal Form (3NF)</a:t>
            </a:r>
            <a:r>
              <a:rPr lang="en-GB" sz="1200">
                <a:latin typeface="DM Sans" pitchFamily="2" charset="77"/>
              </a:rPr>
              <a:t> to avoid redundancy.</a:t>
            </a:r>
            <a:br>
              <a:rPr lang="en-GB" sz="1200">
                <a:latin typeface="DM Sans" pitchFamily="2" charset="77"/>
              </a:rPr>
            </a:br>
            <a:endParaRPr lang="en-GB" sz="1200">
              <a:latin typeface="DM Sans" pitchFamily="2" charset="7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>
                <a:latin typeface="DM Sans" pitchFamily="2" charset="77"/>
              </a:rPr>
              <a:t>  Physical Model:</a:t>
            </a:r>
            <a:r>
              <a:rPr lang="en-GB" sz="1200">
                <a:latin typeface="DM Sans" pitchFamily="2" charset="77"/>
              </a:rPr>
              <a:t> </a:t>
            </a:r>
            <a:br>
              <a:rPr lang="en-GB" sz="1200">
                <a:latin typeface="DM Sans" pitchFamily="2" charset="77"/>
              </a:rPr>
            </a:br>
            <a:endParaRPr lang="en-GB" sz="1200">
              <a:latin typeface="DM Sans" pitchFamily="2" charset="77"/>
            </a:endParaRPr>
          </a:p>
          <a:p>
            <a:r>
              <a:rPr lang="en-GB" sz="1200">
                <a:latin typeface="DM Sans" pitchFamily="2" charset="77"/>
              </a:rPr>
              <a:t>      - Provide the </a:t>
            </a:r>
            <a:r>
              <a:rPr lang="en-GB" sz="1200" b="1">
                <a:latin typeface="DM Sans" pitchFamily="2" charset="77"/>
              </a:rPr>
              <a:t>SQL DDL </a:t>
            </a:r>
            <a:r>
              <a:rPr lang="en-GB" sz="1200">
                <a:latin typeface="DM Sans" pitchFamily="2" charset="77"/>
              </a:rPr>
              <a:t>script. You must specify: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>
                <a:latin typeface="DM Sans" pitchFamily="2" charset="77"/>
              </a:rPr>
              <a:t>Data types (e.g., VARCHAR, TIMESTAMP, DECIMAL).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>
                <a:latin typeface="DM Sans" pitchFamily="2" charset="77"/>
              </a:rPr>
              <a:t>Integrity constraints (NOT NULL, UNIQUE, CHECK constraints for bike battery levels).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>
                <a:latin typeface="DM Sans" pitchFamily="2" charset="77"/>
              </a:rPr>
              <a:t>Foreign Keys and Foreigh Keys actions (ON DELETE CASCADE, etc.)</a:t>
            </a:r>
          </a:p>
          <a:p>
            <a:pPr marL="457200" lvl="1"/>
            <a:endParaRPr lang="en-GB" sz="1200">
              <a:latin typeface="DM Sans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6735BF-118C-039B-377A-B01E1D794924}"/>
              </a:ext>
            </a:extLst>
          </p:cNvPr>
          <p:cNvSpPr txBox="1"/>
          <p:nvPr/>
        </p:nvSpPr>
        <p:spPr>
          <a:xfrm>
            <a:off x="921026" y="3658276"/>
            <a:ext cx="44262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>
                <a:latin typeface="DM Sans" pitchFamily="2" charset="77"/>
              </a:rPr>
              <a:t>- Provice also a </a:t>
            </a:r>
            <a:r>
              <a:rPr lang="en-IT" sz="1200" b="1">
                <a:latin typeface="DM Sans" pitchFamily="2" charset="77"/>
              </a:rPr>
              <a:t>SQL DML </a:t>
            </a:r>
            <a:r>
              <a:rPr lang="en-IT" sz="1200">
                <a:latin typeface="DM Sans" pitchFamily="2" charset="77"/>
              </a:rPr>
              <a:t>script to initially populate your DB</a:t>
            </a:r>
          </a:p>
        </p:txBody>
      </p:sp>
    </p:spTree>
    <p:extLst>
      <p:ext uri="{BB962C8B-B14F-4D97-AF65-F5344CB8AC3E}">
        <p14:creationId xmlns:p14="http://schemas.microsoft.com/office/powerpoint/2010/main" val="17001374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57">
          <a:extLst>
            <a:ext uri="{FF2B5EF4-FFF2-40B4-BE49-F238E27FC236}">
              <a16:creationId xmlns:a16="http://schemas.microsoft.com/office/drawing/2014/main" id="{89BA7A2F-163A-A156-AF00-2EF2287C4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85EE496C-8B4C-E254-65F3-7204653422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/>
              <a:t>Deliverables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7A43DF0-5A24-DD7C-B826-6520168A4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1BB821-A0D3-B83D-450C-3A78EDD7DAF7}"/>
              </a:ext>
            </a:extLst>
          </p:cNvPr>
          <p:cNvSpPr txBox="1"/>
          <p:nvPr/>
        </p:nvSpPr>
        <p:spPr>
          <a:xfrm>
            <a:off x="713224" y="1417720"/>
            <a:ext cx="7277837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latin typeface="DM Sans" pitchFamily="2" charset="77"/>
              </a:rPr>
              <a:t>3. Advanced Analytical Reports</a:t>
            </a:r>
            <a:br>
              <a:rPr lang="en-GB" sz="1200" b="1" dirty="0">
                <a:latin typeface="DM Sans" pitchFamily="2" charset="77"/>
              </a:rPr>
            </a:br>
            <a:endParaRPr lang="en-GB" sz="1200" b="1" dirty="0">
              <a:latin typeface="DM Sans" pitchFamily="2" charset="77"/>
            </a:endParaRPr>
          </a:p>
          <a:p>
            <a:r>
              <a:rPr lang="en-GB" sz="1200" dirty="0">
                <a:latin typeface="DM Sans" pitchFamily="2" charset="77"/>
              </a:rPr>
              <a:t>The city council needs insights. You must provide the SQL code for the following "Business Intelligence" reports:</a:t>
            </a:r>
            <a:br>
              <a:rPr lang="en-GB" sz="1200" dirty="0">
                <a:latin typeface="DM Sans" pitchFamily="2" charset="77"/>
              </a:rPr>
            </a:br>
            <a:endParaRPr lang="en-GB" sz="1200" dirty="0">
              <a:latin typeface="DM Sans" pitchFamily="2" charset="7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latin typeface="DM Sans" pitchFamily="2" charset="77"/>
              </a:rPr>
              <a:t>Station Popularity:</a:t>
            </a:r>
            <a:r>
              <a:rPr lang="en-GB" sz="1200" dirty="0">
                <a:latin typeface="DM Sans" pitchFamily="2" charset="77"/>
              </a:rPr>
              <a:t> A list of the top 5 stations where rides most frequently start.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latin typeface="DM Sans" pitchFamily="2" charset="77"/>
              </a:rPr>
              <a:t>Revenue Analysis:</a:t>
            </a:r>
            <a:r>
              <a:rPr lang="en-GB" sz="1200" dirty="0">
                <a:latin typeface="DM Sans" pitchFamily="2" charset="77"/>
              </a:rPr>
              <a:t> Calculate the total monthly revenue grouped by membership type (e.g., "Pay-as-you-go" vs. "Monthly Subscriber").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latin typeface="DM Sans" pitchFamily="2" charset="77"/>
              </a:rPr>
              <a:t>Maintenance Alert:</a:t>
            </a:r>
            <a:r>
              <a:rPr lang="en-GB" sz="1200" dirty="0">
                <a:latin typeface="DM Sans" pitchFamily="2" charset="77"/>
              </a:rPr>
              <a:t> A query using a </a:t>
            </a:r>
            <a:r>
              <a:rPr lang="en-GB" dirty="0">
                <a:latin typeface="DM Sans" pitchFamily="2" charset="77"/>
              </a:rPr>
              <a:t>JOIN</a:t>
            </a:r>
            <a:r>
              <a:rPr lang="en-GB" sz="1200" dirty="0">
                <a:latin typeface="DM Sans" pitchFamily="2" charset="77"/>
              </a:rPr>
              <a:t> to find all Electric Bikes with a battery level below 20% that are currently docked.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latin typeface="DM Sans" pitchFamily="2" charset="77"/>
              </a:rPr>
              <a:t>User </a:t>
            </a:r>
            <a:r>
              <a:rPr lang="en-GB" sz="1200" b="1" dirty="0" err="1">
                <a:latin typeface="DM Sans" pitchFamily="2" charset="77"/>
              </a:rPr>
              <a:t>Behavior</a:t>
            </a:r>
            <a:r>
              <a:rPr lang="en-GB" sz="1200" b="1" dirty="0">
                <a:latin typeface="DM Sans" pitchFamily="2" charset="77"/>
              </a:rPr>
              <a:t>:</a:t>
            </a:r>
            <a:r>
              <a:rPr lang="en-GB" sz="1200" dirty="0">
                <a:latin typeface="DM Sans" pitchFamily="2" charset="77"/>
              </a:rPr>
              <a:t> Find users who have ridden more than the average distance, sorted by ridden distance.</a:t>
            </a:r>
          </a:p>
        </p:txBody>
      </p:sp>
    </p:spTree>
    <p:extLst>
      <p:ext uri="{BB962C8B-B14F-4D97-AF65-F5344CB8AC3E}">
        <p14:creationId xmlns:p14="http://schemas.microsoft.com/office/powerpoint/2010/main" val="3565204796"/>
      </p:ext>
    </p:extLst>
  </p:cSld>
  <p:clrMapOvr>
    <a:masterClrMapping/>
  </p:clrMapOvr>
</p:sld>
</file>

<file path=ppt/theme/theme1.xml><?xml version="1.0" encoding="utf-8"?>
<a:theme xmlns:a="http://schemas.openxmlformats.org/drawingml/2006/main" name="Statistics and Data Analysis - 6th Grade by Slidesgo">
  <a:themeElements>
    <a:clrScheme name="Simple Light">
      <a:dk1>
        <a:srgbClr val="334157"/>
      </a:dk1>
      <a:lt1>
        <a:srgbClr val="4C69B2"/>
      </a:lt1>
      <a:dk2>
        <a:srgbClr val="FDFDFD"/>
      </a:dk2>
      <a:lt2>
        <a:srgbClr val="6389EB"/>
      </a:lt2>
      <a:accent1>
        <a:srgbClr val="CBDDFA"/>
      </a:accent1>
      <a:accent2>
        <a:srgbClr val="FF4949"/>
      </a:accent2>
      <a:accent3>
        <a:srgbClr val="FF7A78"/>
      </a:accent3>
      <a:accent4>
        <a:srgbClr val="FF9D35"/>
      </a:accent4>
      <a:accent5>
        <a:srgbClr val="FFC53A"/>
      </a:accent5>
      <a:accent6>
        <a:srgbClr val="EBEBEB"/>
      </a:accent6>
      <a:hlink>
        <a:srgbClr val="3341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3259</TotalTime>
  <Words>987</Words>
  <Application>Microsoft Office PowerPoint</Application>
  <PresentationFormat>Presentación en pantalla (16:9)</PresentationFormat>
  <Paragraphs>203</Paragraphs>
  <Slides>29</Slides>
  <Notes>29</Notes>
  <HiddenSlides>4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7" baseType="lpstr">
      <vt:lpstr>DM Sans 14pt</vt:lpstr>
      <vt:lpstr>Calibri</vt:lpstr>
      <vt:lpstr>Arial</vt:lpstr>
      <vt:lpstr>Baloo 2 ExtraBold</vt:lpstr>
      <vt:lpstr>Nunito Light</vt:lpstr>
      <vt:lpstr>DM Sans</vt:lpstr>
      <vt:lpstr>Courier New</vt:lpstr>
      <vt:lpstr>Statistics and Data Analysis - 6th Grade by Slidesgo</vt:lpstr>
      <vt:lpstr>Super Bikes!</vt:lpstr>
      <vt:lpstr>Agenda</vt:lpstr>
      <vt:lpstr>Repository</vt:lpstr>
      <vt:lpstr> Our Idea</vt:lpstr>
      <vt:lpstr>What data structure solves the issue?</vt:lpstr>
      <vt:lpstr>What data structure solves the issue?</vt:lpstr>
      <vt:lpstr>Relevant constraints</vt:lpstr>
      <vt:lpstr>The data</vt:lpstr>
      <vt:lpstr>Tables and dimensions</vt:lpstr>
      <vt:lpstr>Tables and dimensions</vt:lpstr>
      <vt:lpstr>Tables and dimensions</vt:lpstr>
      <vt:lpstr>Tables and dimensions</vt:lpstr>
      <vt:lpstr>Tables and dimensions</vt:lpstr>
      <vt:lpstr>Tables and dimensions</vt:lpstr>
      <vt:lpstr>Tables and dimensions</vt:lpstr>
      <vt:lpstr>Data consistency</vt:lpstr>
      <vt:lpstr>Data consistency</vt:lpstr>
      <vt:lpstr>Insights</vt:lpstr>
      <vt:lpstr>Station Popularity</vt:lpstr>
      <vt:lpstr>Revenue Analysis</vt:lpstr>
      <vt:lpstr>Revenue Analysis</vt:lpstr>
      <vt:lpstr>Maintenance Alert</vt:lpstr>
      <vt:lpstr>Maintenance Alert</vt:lpstr>
      <vt:lpstr>User Behavior</vt:lpstr>
      <vt:lpstr>Thank you!</vt:lpstr>
      <vt:lpstr>EcoRide</vt:lpstr>
      <vt:lpstr>Deliverables</vt:lpstr>
      <vt:lpstr>Deliverables</vt:lpstr>
      <vt:lpstr>Deliverables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María Jose Briones Rodríguez</dc:creator>
  <cp:lastModifiedBy>María Jose Briones Rodríguez</cp:lastModifiedBy>
  <cp:revision>17</cp:revision>
  <dcterms:modified xsi:type="dcterms:W3CDTF">2026-03-23T17:18:17Z</dcterms:modified>
</cp:coreProperties>
</file>